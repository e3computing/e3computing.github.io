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7" r:id="rId1"/>
  </p:sldMasterIdLst>
  <p:notesMasterIdLst>
    <p:notesMasterId r:id="rId12"/>
  </p:notesMasterIdLst>
  <p:sldIdLst>
    <p:sldId id="267"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57" autoAdjust="0"/>
    <p:restoredTop sz="94726"/>
  </p:normalViewPr>
  <p:slideViewPr>
    <p:cSldViewPr snapToGrid="0">
      <p:cViewPr varScale="1">
        <p:scale>
          <a:sx n="120" d="100"/>
          <a:sy n="120" d="100"/>
        </p:scale>
        <p:origin x="8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7A3347-C785-0649-8B7D-3963EBF127F4}" type="datetimeFigureOut">
              <a:rPr lang="en-JP" smtClean="0"/>
              <a:t>2025/08/25</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AB38-94DA-1140-B896-2EB9C7AE57FF}" type="slidenum">
              <a:rPr lang="en-JP" smtClean="0"/>
              <a:t>‹#›</a:t>
            </a:fld>
            <a:endParaRPr lang="en-JP"/>
          </a:p>
        </p:txBody>
      </p:sp>
    </p:spTree>
    <p:extLst>
      <p:ext uri="{BB962C8B-B14F-4D97-AF65-F5344CB8AC3E}">
        <p14:creationId xmlns:p14="http://schemas.microsoft.com/office/powerpoint/2010/main" val="4055154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BD74AC26-D381-074A-9DFB-6CBCDE0ABD59}" type="datetime1">
              <a:rPr kumimoji="1" lang="en-US" altLang="ja-JP" smtClean="0"/>
              <a:t>8/25/25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056A974-1F10-4C20-85B8-C700D90E4AC4}" type="slidenum">
              <a:rPr kumimoji="1" lang="ja-JP" altLang="en-US" smtClean="0"/>
              <a:t>‹#›</a:t>
            </a:fld>
            <a:endParaRPr kumimoji="1" lang="ja-JP" altLang="en-US"/>
          </a:p>
        </p:txBody>
      </p:sp>
    </p:spTree>
    <p:extLst>
      <p:ext uri="{BB962C8B-B14F-4D97-AF65-F5344CB8AC3E}">
        <p14:creationId xmlns:p14="http://schemas.microsoft.com/office/powerpoint/2010/main" val="2911170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A24ADCC-573D-AB46-A6C3-DB47C283E02D}" type="datetime1">
              <a:rPr kumimoji="1" lang="en-US" altLang="ja-JP" smtClean="0"/>
              <a:t>8/25/25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sz="2000"/>
            </a:lvl1pPr>
          </a:lstStyle>
          <a:p>
            <a:fld id="{6056A974-1F10-4C20-85B8-C700D90E4AC4}" type="slidenum">
              <a:rPr kumimoji="1" lang="ja-JP" altLang="en-US" smtClean="0"/>
              <a:pPr/>
              <a:t>‹#›</a:t>
            </a:fld>
            <a:endParaRPr kumimoji="1" lang="ja-JP" altLang="en-US"/>
          </a:p>
        </p:txBody>
      </p:sp>
    </p:spTree>
    <p:extLst>
      <p:ext uri="{BB962C8B-B14F-4D97-AF65-F5344CB8AC3E}">
        <p14:creationId xmlns:p14="http://schemas.microsoft.com/office/powerpoint/2010/main" val="2746564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FA150D4-D396-B746-9E93-5EE4BF8951B9}" type="datetime1">
              <a:rPr kumimoji="1" lang="en-US" altLang="ja-JP" smtClean="0"/>
              <a:t>8/25/25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056A974-1F10-4C20-85B8-C700D90E4AC4}" type="slidenum">
              <a:rPr kumimoji="1" lang="ja-JP" altLang="en-US" smtClean="0"/>
              <a:t>‹#›</a:t>
            </a:fld>
            <a:endParaRPr kumimoji="1" lang="ja-JP" altLang="en-US"/>
          </a:p>
        </p:txBody>
      </p:sp>
    </p:spTree>
    <p:extLst>
      <p:ext uri="{BB962C8B-B14F-4D97-AF65-F5344CB8AC3E}">
        <p14:creationId xmlns:p14="http://schemas.microsoft.com/office/powerpoint/2010/main" val="3298149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45C22C3-F611-CF42-9788-AA792ED38AC7}" type="datetime1">
              <a:rPr kumimoji="1" lang="en-US" altLang="ja-JP" smtClean="0"/>
              <a:t>8/25/25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056A974-1F10-4C20-85B8-C700D90E4AC4}" type="slidenum">
              <a:rPr kumimoji="1" lang="ja-JP" altLang="en-US" smtClean="0"/>
              <a:t>‹#›</a:t>
            </a:fld>
            <a:endParaRPr kumimoji="1" lang="ja-JP" altLang="en-US"/>
          </a:p>
        </p:txBody>
      </p:sp>
    </p:spTree>
    <p:extLst>
      <p:ext uri="{BB962C8B-B14F-4D97-AF65-F5344CB8AC3E}">
        <p14:creationId xmlns:p14="http://schemas.microsoft.com/office/powerpoint/2010/main" val="2217542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45127" y="2507550"/>
            <a:ext cx="5156200"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7550"/>
            <a:ext cx="5181601"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F2F1F35A-6AA0-1E42-977A-435A688CADCF}" type="datetime1">
              <a:rPr kumimoji="1" lang="en-US" altLang="ja-JP" smtClean="0"/>
              <a:t>8/25/25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6056A974-1F10-4C20-85B8-C700D90E4AC4}" type="slidenum">
              <a:rPr kumimoji="1" lang="ja-JP" altLang="en-US" smtClean="0"/>
              <a:t>‹#›</a:t>
            </a:fld>
            <a:endParaRPr kumimoji="1" lang="ja-JP" altLang="en-US"/>
          </a:p>
        </p:txBody>
      </p:sp>
      <p:sp>
        <p:nvSpPr>
          <p:cNvPr id="10" name="Title 9"/>
          <p:cNvSpPr>
            <a:spLocks noGrp="1"/>
          </p:cNvSpPr>
          <p:nvPr>
            <p:ph type="title"/>
          </p:nvPr>
        </p:nvSpPr>
        <p:spPr/>
        <p:txBody>
          <a:bodyPr/>
          <a:lstStyle/>
          <a:p>
            <a:r>
              <a:rPr lang="ja-JP" altLang="en-US"/>
              <a:t>マスター タイトルの書式設定</a:t>
            </a:r>
            <a:endParaRPr lang="en-US" dirty="0"/>
          </a:p>
        </p:txBody>
      </p:sp>
    </p:spTree>
    <p:extLst>
      <p:ext uri="{BB962C8B-B14F-4D97-AF65-F5344CB8AC3E}">
        <p14:creationId xmlns:p14="http://schemas.microsoft.com/office/powerpoint/2010/main" val="1467746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EA7CCDA-C7BA-B745-A296-2FEC71C71687}" type="datetime1">
              <a:rPr kumimoji="1" lang="en-US" altLang="ja-JP" smtClean="0"/>
              <a:t>8/25/25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6056A974-1F10-4C20-85B8-C700D90E4AC4}" type="slidenum">
              <a:rPr kumimoji="1" lang="ja-JP" altLang="en-US" smtClean="0"/>
              <a:t>‹#›</a:t>
            </a:fld>
            <a:endParaRPr kumimoji="1" lang="ja-JP" altLang="en-US"/>
          </a:p>
        </p:txBody>
      </p:sp>
      <p:sp>
        <p:nvSpPr>
          <p:cNvPr id="6" name="Title 5"/>
          <p:cNvSpPr>
            <a:spLocks noGrp="1"/>
          </p:cNvSpPr>
          <p:nvPr>
            <p:ph type="title"/>
          </p:nvPr>
        </p:nvSpPr>
        <p:spPr/>
        <p:txBody>
          <a:bodyPr/>
          <a:lstStyle/>
          <a:p>
            <a:r>
              <a:rPr lang="ja-JP" altLang="en-US"/>
              <a:t>マスター タイトルの書式設定</a:t>
            </a:r>
            <a:endParaRPr lang="en-US"/>
          </a:p>
        </p:txBody>
      </p:sp>
    </p:spTree>
    <p:extLst>
      <p:ext uri="{BB962C8B-B14F-4D97-AF65-F5344CB8AC3E}">
        <p14:creationId xmlns:p14="http://schemas.microsoft.com/office/powerpoint/2010/main" val="148500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7BB421-6E08-1F46-96A7-121A77A31CB9}" type="datetime1">
              <a:rPr kumimoji="1" lang="en-US" altLang="ja-JP" smtClean="0"/>
              <a:t>8/25/25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056A974-1F10-4C20-85B8-C700D90E4AC4}" type="slidenum">
              <a:rPr kumimoji="1" lang="ja-JP" altLang="en-US" smtClean="0"/>
              <a:t>‹#›</a:t>
            </a:fld>
            <a:endParaRPr kumimoji="1" lang="ja-JP" altLang="en-US"/>
          </a:p>
        </p:txBody>
      </p:sp>
    </p:spTree>
    <p:extLst>
      <p:ext uri="{BB962C8B-B14F-4D97-AF65-F5344CB8AC3E}">
        <p14:creationId xmlns:p14="http://schemas.microsoft.com/office/powerpoint/2010/main" val="3570828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ja-JP" altLang="en-US"/>
              <a:t>マスター タイトルの書式設定</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5A0A3CC-DF1E-3540-AF33-674A89404FC1}" type="datetime1">
              <a:rPr kumimoji="1" lang="en-US" altLang="ja-JP" smtClean="0"/>
              <a:t>8/25/25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056A974-1F10-4C20-85B8-C700D90E4AC4}" type="slidenum">
              <a:rPr kumimoji="1" lang="ja-JP" altLang="en-US" smtClean="0"/>
              <a:t>‹#›</a:t>
            </a:fld>
            <a:endParaRPr kumimoji="1" lang="ja-JP" altLang="en-US"/>
          </a:p>
        </p:txBody>
      </p:sp>
    </p:spTree>
    <p:extLst>
      <p:ext uri="{BB962C8B-B14F-4D97-AF65-F5344CB8AC3E}">
        <p14:creationId xmlns:p14="http://schemas.microsoft.com/office/powerpoint/2010/main" val="591484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ja-JP" altLang="en-US"/>
              <a:t>マスター タイトルの書式設定</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4A88214-54B9-CC44-9266-E8ED3404DB2A}" type="datetime1">
              <a:rPr kumimoji="1" lang="en-US" altLang="ja-JP" smtClean="0"/>
              <a:t>8/25/25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056A974-1F10-4C20-85B8-C700D90E4AC4}" type="slidenum">
              <a:rPr kumimoji="1" lang="ja-JP" altLang="en-US" smtClean="0"/>
              <a:t>‹#›</a:t>
            </a:fld>
            <a:endParaRPr kumimoji="1" lang="ja-JP" altLang="en-US"/>
          </a:p>
        </p:txBody>
      </p:sp>
    </p:spTree>
    <p:extLst>
      <p:ext uri="{BB962C8B-B14F-4D97-AF65-F5344CB8AC3E}">
        <p14:creationId xmlns:p14="http://schemas.microsoft.com/office/powerpoint/2010/main" val="3144545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851F16B-A235-2B42-AE88-1CF92FD46D1C}" type="datetime1">
              <a:rPr kumimoji="1" lang="en-US" altLang="ja-JP" smtClean="0"/>
              <a:t>8/25/25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056A974-1F10-4C20-85B8-C700D90E4AC4}" type="slidenum">
              <a:rPr kumimoji="1" lang="ja-JP" altLang="en-US" smtClean="0"/>
              <a:t>‹#›</a:t>
            </a:fld>
            <a:endParaRPr kumimoji="1" lang="ja-JP" altLang="en-US"/>
          </a:p>
        </p:txBody>
      </p:sp>
    </p:spTree>
    <p:extLst>
      <p:ext uri="{BB962C8B-B14F-4D97-AF65-F5344CB8AC3E}">
        <p14:creationId xmlns:p14="http://schemas.microsoft.com/office/powerpoint/2010/main" val="1915466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3791A7B-27F2-DC45-BC3F-DBF26C414F30}" type="datetime1">
              <a:rPr kumimoji="1" lang="en-US" altLang="ja-JP" smtClean="0"/>
              <a:t>8/25/25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056A974-1F10-4C20-85B8-C700D90E4AC4}" type="slidenum">
              <a:rPr kumimoji="1" lang="ja-JP" altLang="en-US" smtClean="0"/>
              <a:t>‹#›</a:t>
            </a:fld>
            <a:endParaRPr kumimoji="1" lang="ja-JP" altLang="en-US"/>
          </a:p>
        </p:txBody>
      </p:sp>
    </p:spTree>
    <p:extLst>
      <p:ext uri="{BB962C8B-B14F-4D97-AF65-F5344CB8AC3E}">
        <p14:creationId xmlns:p14="http://schemas.microsoft.com/office/powerpoint/2010/main" val="1711291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B8CA45F0-912C-1548-9C0F-E7B44C18E699}" type="datetime1">
              <a:rPr kumimoji="1" lang="en-US" altLang="ja-JP" smtClean="0"/>
              <a:t>8/25/25</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kumimoji="1" lang="ja-JP" alt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6056A974-1F10-4C20-85B8-C700D90E4AC4}" type="slidenum">
              <a:rPr kumimoji="1" lang="ja-JP" altLang="en-US" smtClean="0"/>
              <a:t>‹#›</a:t>
            </a:fld>
            <a:endParaRPr kumimoji="1" lang="ja-JP" altLang="en-US"/>
          </a:p>
        </p:txBody>
      </p:sp>
    </p:spTree>
    <p:extLst>
      <p:ext uri="{BB962C8B-B14F-4D97-AF65-F5344CB8AC3E}">
        <p14:creationId xmlns:p14="http://schemas.microsoft.com/office/powerpoint/2010/main" val="4016445447"/>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C68AF-3EC1-8A2E-BB15-316F1A6C4FB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FE1065-1653-2B4F-012A-4533898D91AE}"/>
              </a:ext>
            </a:extLst>
          </p:cNvPr>
          <p:cNvSpPr>
            <a:spLocks noGrp="1"/>
          </p:cNvSpPr>
          <p:nvPr>
            <p:ph type="ctrTitle"/>
          </p:nvPr>
        </p:nvSpPr>
        <p:spPr>
          <a:xfrm>
            <a:off x="1524000" y="1934723"/>
            <a:ext cx="9144000" cy="2387600"/>
          </a:xfrm>
        </p:spPr>
        <p:txBody>
          <a:bodyPr>
            <a:normAutofit fontScale="90000"/>
          </a:bodyPr>
          <a:lstStyle/>
          <a:p>
            <a:pPr marL="0" marR="0" lvl="0" indent="0" algn="ctr" defTabSz="457200" rtl="0" eaLnBrk="1" fontAlgn="auto" latinLnBrk="0" hangingPunct="1">
              <a:lnSpc>
                <a:spcPct val="100000"/>
              </a:lnSpc>
              <a:spcBef>
                <a:spcPts val="0"/>
              </a:spcBef>
              <a:spcAft>
                <a:spcPts val="0"/>
              </a:spcAft>
              <a:tabLst/>
              <a:defRPr/>
            </a:pPr>
            <a:r>
              <a:rPr kumimoji="0" lang="ja-JP" altLang="en-US" sz="4900" b="1" i="0" u="none" strike="noStrike" kern="1200" cap="none" spc="0" normalizeH="0" baseline="0" noProof="0" dirty="0">
                <a:ln>
                  <a:noFill/>
                </a:ln>
                <a:solidFill>
                  <a:prstClr val="black"/>
                </a:solidFill>
                <a:effectLst/>
                <a:uLnTx/>
                <a:uFillTx/>
                <a:latin typeface="东文宋体" charset="0"/>
                <a:ea typeface="游ゴシック" panose="020B0400000000000000" pitchFamily="50" charset="-128"/>
                <a:cs typeface="东文宋体" charset="0"/>
              </a:rPr>
              <a:t>低消費電力</a:t>
            </a:r>
            <a:br>
              <a:rPr kumimoji="0" lang="en-US" altLang="ja-JP" sz="4900" b="1" i="0" u="none" strike="noStrike" kern="1200" cap="none" spc="0" normalizeH="0" baseline="0" noProof="0" dirty="0">
                <a:ln>
                  <a:noFill/>
                </a:ln>
                <a:solidFill>
                  <a:prstClr val="black"/>
                </a:solidFill>
                <a:effectLst/>
                <a:uLnTx/>
                <a:uFillTx/>
                <a:latin typeface="东文宋体" charset="0"/>
                <a:ea typeface="游ゴシック" panose="020B0400000000000000" pitchFamily="50" charset="-128"/>
                <a:cs typeface="东文宋体" charset="0"/>
              </a:rPr>
            </a:br>
            <a:r>
              <a:rPr kumimoji="0" lang="en-US" altLang="ja-JP" sz="4900" b="1" i="0" u="none" strike="noStrike" kern="1200" cap="none" spc="0" normalizeH="0" baseline="0" noProof="0" dirty="0">
                <a:ln>
                  <a:noFill/>
                </a:ln>
                <a:solidFill>
                  <a:prstClr val="black"/>
                </a:solidFill>
                <a:effectLst/>
                <a:uLnTx/>
                <a:uFillTx/>
                <a:latin typeface="东文宋体" charset="0"/>
                <a:ea typeface="游ゴシック" panose="020B0400000000000000" pitchFamily="50" charset="-128"/>
                <a:cs typeface="东文宋体" charset="0"/>
              </a:rPr>
              <a:t>3D</a:t>
            </a:r>
            <a:r>
              <a:rPr kumimoji="0" lang="ja-JP" altLang="en-US" sz="4900" b="1" i="0" u="none" strike="noStrike" kern="1200" cap="none" spc="0" normalizeH="0" baseline="0" noProof="0" dirty="0">
                <a:ln>
                  <a:noFill/>
                </a:ln>
                <a:solidFill>
                  <a:prstClr val="black"/>
                </a:solidFill>
                <a:effectLst/>
                <a:uLnTx/>
                <a:uFillTx/>
                <a:latin typeface="东文宋体" charset="0"/>
                <a:ea typeface="游ゴシック" panose="020B0400000000000000" pitchFamily="50" charset="-128"/>
                <a:cs typeface="东文宋体" charset="0"/>
              </a:rPr>
              <a:t>スタッキングメモリベースの</a:t>
            </a:r>
            <a:br>
              <a:rPr kumimoji="0" lang="en-US" altLang="ja-JP" sz="4900" b="1" i="0" u="none" strike="noStrike" kern="1200" cap="none" spc="0" normalizeH="0" baseline="0" noProof="0" dirty="0">
                <a:ln>
                  <a:noFill/>
                </a:ln>
                <a:solidFill>
                  <a:prstClr val="black"/>
                </a:solidFill>
                <a:effectLst/>
                <a:uLnTx/>
                <a:uFillTx/>
                <a:latin typeface="东文宋体" charset="0"/>
                <a:ea typeface="游ゴシック" panose="020B0400000000000000" pitchFamily="50" charset="-128"/>
                <a:cs typeface="东文宋体" charset="0"/>
              </a:rPr>
            </a:br>
            <a:r>
              <a:rPr kumimoji="0" lang="ja-JP" altLang="en-US" sz="4900" b="1" i="0" u="none" strike="noStrike" kern="1200" cap="none" spc="0" normalizeH="0" baseline="0" noProof="0">
                <a:ln>
                  <a:noFill/>
                </a:ln>
                <a:solidFill>
                  <a:prstClr val="black"/>
                </a:solidFill>
                <a:effectLst/>
                <a:uLnTx/>
                <a:uFillTx/>
                <a:latin typeface="东文宋体" charset="0"/>
                <a:ea typeface="游ゴシック" panose="020B0400000000000000" pitchFamily="50" charset="-128"/>
                <a:cs typeface="东文宋体" charset="0"/>
              </a:rPr>
              <a:t>ニューラルネットワークプロセッサ</a:t>
            </a:r>
            <a:endParaRPr kumimoji="1" lang="ja-JP" altLang="en-US" dirty="0"/>
          </a:p>
        </p:txBody>
      </p:sp>
      <p:sp>
        <p:nvSpPr>
          <p:cNvPr id="3" name="字幕 2">
            <a:extLst>
              <a:ext uri="{FF2B5EF4-FFF2-40B4-BE49-F238E27FC236}">
                <a16:creationId xmlns:a16="http://schemas.microsoft.com/office/drawing/2014/main" id="{4626EBE8-8E51-A522-0DD8-D74F36D5D03C}"/>
              </a:ext>
            </a:extLst>
          </p:cNvPr>
          <p:cNvSpPr>
            <a:spLocks noGrp="1"/>
          </p:cNvSpPr>
          <p:nvPr>
            <p:ph type="subTitle" idx="1"/>
          </p:nvPr>
        </p:nvSpPr>
        <p:spPr>
          <a:xfrm>
            <a:off x="1524000" y="4645890"/>
            <a:ext cx="9144000" cy="1424269"/>
          </a:xfrm>
        </p:spPr>
        <p:txBody>
          <a:bodyPr/>
          <a:lstStyle/>
          <a:p>
            <a:r>
              <a:rPr kumimoji="1" lang="ja-JP" altLang="en-US" sz="3200" dirty="0"/>
              <a:t>会津大学 </a:t>
            </a:r>
            <a:r>
              <a:rPr kumimoji="1" lang="en-US" altLang="ja-JP" sz="3200" dirty="0"/>
              <a:t>DANG Nam Khanh</a:t>
            </a:r>
          </a:p>
        </p:txBody>
      </p:sp>
      <p:pic>
        <p:nvPicPr>
          <p:cNvPr id="5" name="Picture 28">
            <a:extLst>
              <a:ext uri="{FF2B5EF4-FFF2-40B4-BE49-F238E27FC236}">
                <a16:creationId xmlns:a16="http://schemas.microsoft.com/office/drawing/2014/main" id="{94D46D31-ACCC-D0E0-5EDF-89D83383EFE0}"/>
              </a:ext>
            </a:extLst>
          </p:cNvPr>
          <p:cNvPicPr>
            <a:picLocks noChangeAspect="1"/>
          </p:cNvPicPr>
          <p:nvPr/>
        </p:nvPicPr>
        <p:blipFill>
          <a:blip r:embed="rId2"/>
          <a:stretch>
            <a:fillRect/>
          </a:stretch>
        </p:blipFill>
        <p:spPr>
          <a:xfrm>
            <a:off x="380402" y="234986"/>
            <a:ext cx="1185397" cy="1229884"/>
          </a:xfrm>
          <a:prstGeom prst="rect">
            <a:avLst/>
          </a:prstGeom>
          <a:noFill/>
        </p:spPr>
      </p:pic>
      <p:pic>
        <p:nvPicPr>
          <p:cNvPr id="7" name="Picture 6" descr="A qr code with a logo&#10;&#10;AI-generated content may be incorrect.">
            <a:extLst>
              <a:ext uri="{FF2B5EF4-FFF2-40B4-BE49-F238E27FC236}">
                <a16:creationId xmlns:a16="http://schemas.microsoft.com/office/drawing/2014/main" id="{88169F9D-7DC0-7A0A-1009-6AC25BEF9B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0782" y="216848"/>
            <a:ext cx="1266160" cy="1266160"/>
          </a:xfrm>
          <a:prstGeom prst="rect">
            <a:avLst/>
          </a:prstGeom>
        </p:spPr>
      </p:pic>
    </p:spTree>
    <p:extLst>
      <p:ext uri="{BB962C8B-B14F-4D97-AF65-F5344CB8AC3E}">
        <p14:creationId xmlns:p14="http://schemas.microsoft.com/office/powerpoint/2010/main" val="1637516629"/>
      </p:ext>
    </p:extLst>
  </p:cSld>
  <p:clrMapOvr>
    <a:masterClrMapping/>
  </p:clrMapOvr>
  <mc:AlternateContent xmlns:mc="http://schemas.openxmlformats.org/markup-compatibility/2006" xmlns:p14="http://schemas.microsoft.com/office/powerpoint/2010/main">
    <mc:Choice Requires="p14">
      <p:transition p14:dur="10" advClick="0" advTm="2208"/>
    </mc:Choice>
    <mc:Fallback xmlns="">
      <p:transition advClick="0" advTm="220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4F8772-47EB-11DE-270A-3CE967CD0ED1}"/>
              </a:ext>
            </a:extLst>
          </p:cNvPr>
          <p:cNvSpPr>
            <a:spLocks noGrp="1"/>
          </p:cNvSpPr>
          <p:nvPr>
            <p:ph type="title"/>
          </p:nvPr>
        </p:nvSpPr>
        <p:spPr/>
        <p:txBody>
          <a:bodyPr/>
          <a:lstStyle/>
          <a:p>
            <a:r>
              <a:rPr lang="ja-JP" altLang="en-US" dirty="0"/>
              <a:t>目的</a:t>
            </a:r>
            <a:endParaRPr kumimoji="1" lang="ja-JP" altLang="en-US" dirty="0"/>
          </a:p>
        </p:txBody>
      </p:sp>
      <p:sp>
        <p:nvSpPr>
          <p:cNvPr id="3" name="コンテンツ プレースホルダー 2">
            <a:extLst>
              <a:ext uri="{FF2B5EF4-FFF2-40B4-BE49-F238E27FC236}">
                <a16:creationId xmlns:a16="http://schemas.microsoft.com/office/drawing/2014/main" id="{04EFD058-AF0B-E03A-862C-552FC5735286}"/>
              </a:ext>
            </a:extLst>
          </p:cNvPr>
          <p:cNvSpPr>
            <a:spLocks noGrp="1"/>
          </p:cNvSpPr>
          <p:nvPr>
            <p:ph idx="1"/>
          </p:nvPr>
        </p:nvSpPr>
        <p:spPr/>
        <p:txBody>
          <a:bodyPr/>
          <a:lstStyle/>
          <a:p>
            <a:r>
              <a:rPr lang="x-none" altLang="ja-JP" sz="2800" dirty="0">
                <a:latin typeface="东文宋体" charset="0"/>
                <a:cs typeface="东文宋体" charset="0"/>
              </a:rPr>
              <a:t>スパイキング・ニューラル・ネットワーク（SNNs）は、低消費電力かつ高性能である生物学的神経システムを模倣しています。本研究では、3次元ハードウェア・アーキテクチャと低消費電力設計技術を用いて、スパイキング・ニューラル・ネットワークの低消費電力の利点を活用することを目指します。</a:t>
            </a:r>
          </a:p>
          <a:p>
            <a:endParaRPr kumimoji="1" lang="ja-JP" altLang="en-US" dirty="0"/>
          </a:p>
        </p:txBody>
      </p:sp>
      <p:grpSp>
        <p:nvGrpSpPr>
          <p:cNvPr id="4" name="Group 3">
            <a:extLst>
              <a:ext uri="{FF2B5EF4-FFF2-40B4-BE49-F238E27FC236}">
                <a16:creationId xmlns:a16="http://schemas.microsoft.com/office/drawing/2014/main" id="{0CF35DD6-3740-1944-FC3F-D082A97A3933}"/>
              </a:ext>
            </a:extLst>
          </p:cNvPr>
          <p:cNvGrpSpPr/>
          <p:nvPr/>
        </p:nvGrpSpPr>
        <p:grpSpPr>
          <a:xfrm>
            <a:off x="2147320" y="4011520"/>
            <a:ext cx="7897361" cy="2306095"/>
            <a:chOff x="2336799" y="4011520"/>
            <a:chExt cx="7897361" cy="2306095"/>
          </a:xfrm>
        </p:grpSpPr>
        <p:pic>
          <p:nvPicPr>
            <p:cNvPr id="14" name="図 13" descr="ダイアグラム, 設計図&#10;&#10;自動的に生成された説明">
              <a:extLst>
                <a:ext uri="{FF2B5EF4-FFF2-40B4-BE49-F238E27FC236}">
                  <a16:creationId xmlns:a16="http://schemas.microsoft.com/office/drawing/2014/main" id="{FF1F4E03-9E70-8A11-D47E-9D607FE9B5F1}"/>
                </a:ext>
              </a:extLst>
            </p:cNvPr>
            <p:cNvPicPr>
              <a:picLocks noChangeAspect="1"/>
            </p:cNvPicPr>
            <p:nvPr/>
          </p:nvPicPr>
          <p:blipFill>
            <a:blip r:embed="rId2">
              <a:extLst>
                <a:ext uri="{28A0092B-C50C-407E-A947-70E740481C1C}">
                  <a14:useLocalDpi xmlns:a14="http://schemas.microsoft.com/office/drawing/2010/main" val="0"/>
                </a:ext>
              </a:extLst>
            </a:blip>
            <a:srcRect l="57475" t="16410" r="1" b="12981"/>
            <a:stretch>
              <a:fillRect/>
            </a:stretch>
          </p:blipFill>
          <p:spPr>
            <a:xfrm>
              <a:off x="7919418" y="4093000"/>
              <a:ext cx="2314742" cy="2143134"/>
            </a:xfrm>
            <a:prstGeom prst="rect">
              <a:avLst/>
            </a:prstGeom>
          </p:spPr>
        </p:pic>
        <p:pic>
          <p:nvPicPr>
            <p:cNvPr id="15" name="Picture 38">
              <a:extLst>
                <a:ext uri="{FF2B5EF4-FFF2-40B4-BE49-F238E27FC236}">
                  <a16:creationId xmlns:a16="http://schemas.microsoft.com/office/drawing/2014/main" id="{61D0A922-AF07-055D-5879-5E9BDA07403F}"/>
                </a:ext>
              </a:extLst>
            </p:cNvPr>
            <p:cNvPicPr>
              <a:picLocks noChangeAspect="1"/>
            </p:cNvPicPr>
            <p:nvPr/>
          </p:nvPicPr>
          <p:blipFill>
            <a:blip r:embed="rId3"/>
            <a:srcRect l="3698" t="8425" r="47763" b="2380"/>
            <a:stretch>
              <a:fillRect/>
            </a:stretch>
          </p:blipFill>
          <p:spPr>
            <a:xfrm>
              <a:off x="2336799" y="4011520"/>
              <a:ext cx="2632505" cy="2306095"/>
            </a:xfrm>
            <a:prstGeom prst="rect">
              <a:avLst/>
            </a:prstGeom>
          </p:spPr>
        </p:pic>
        <p:sp>
          <p:nvSpPr>
            <p:cNvPr id="16" name="テキスト ボックス 15">
              <a:extLst>
                <a:ext uri="{FF2B5EF4-FFF2-40B4-BE49-F238E27FC236}">
                  <a16:creationId xmlns:a16="http://schemas.microsoft.com/office/drawing/2014/main" id="{7D074C9E-D433-BEE4-C195-DBC0F5B0CEFB}"/>
                </a:ext>
              </a:extLst>
            </p:cNvPr>
            <p:cNvSpPr txBox="1"/>
            <p:nvPr/>
          </p:nvSpPr>
          <p:spPr>
            <a:xfrm>
              <a:off x="6250723" y="4379737"/>
              <a:ext cx="794028" cy="1569660"/>
            </a:xfrm>
            <a:prstGeom prst="rect">
              <a:avLst/>
            </a:prstGeom>
            <a:noFill/>
          </p:spPr>
          <p:txBody>
            <a:bodyPr wrap="square" rtlCol="0">
              <a:spAutoFit/>
            </a:bodyPr>
            <a:lstStyle/>
            <a:p>
              <a:pPr algn="ctr"/>
              <a:r>
                <a:rPr kumimoji="1" lang="en-US" altLang="ja-JP" sz="9600" dirty="0"/>
                <a:t>+</a:t>
              </a:r>
              <a:endParaRPr kumimoji="1" lang="ja-JP" altLang="en-US" sz="9600" dirty="0"/>
            </a:p>
          </p:txBody>
        </p:sp>
      </p:grpSp>
      <p:sp>
        <p:nvSpPr>
          <p:cNvPr id="17" name="正方形/長方形 16">
            <a:extLst>
              <a:ext uri="{FF2B5EF4-FFF2-40B4-BE49-F238E27FC236}">
                <a16:creationId xmlns:a16="http://schemas.microsoft.com/office/drawing/2014/main" id="{A745860B-3F5C-B3EA-4FEB-9041A8AC738D}"/>
              </a:ext>
            </a:extLst>
          </p:cNvPr>
          <p:cNvSpPr/>
          <p:nvPr/>
        </p:nvSpPr>
        <p:spPr>
          <a:xfrm rot="2165197">
            <a:off x="5499057" y="4599708"/>
            <a:ext cx="133532"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0706EF06-6A80-399A-061A-C5AA96A1F38C}"/>
              </a:ext>
            </a:extLst>
          </p:cNvPr>
          <p:cNvSpPr/>
          <p:nvPr/>
        </p:nvSpPr>
        <p:spPr>
          <a:xfrm flipV="1">
            <a:off x="5846587" y="4326268"/>
            <a:ext cx="616943" cy="3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2247A037-7A8D-86A3-C2B6-2F6681F80333}"/>
              </a:ext>
            </a:extLst>
          </p:cNvPr>
          <p:cNvSpPr/>
          <p:nvPr/>
        </p:nvSpPr>
        <p:spPr>
          <a:xfrm rot="2434542">
            <a:off x="4801739" y="5193794"/>
            <a:ext cx="375827"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Slide Number Placeholder 4">
            <a:extLst>
              <a:ext uri="{FF2B5EF4-FFF2-40B4-BE49-F238E27FC236}">
                <a16:creationId xmlns:a16="http://schemas.microsoft.com/office/drawing/2014/main" id="{564CEDA0-EC44-A2BB-E7E6-AF52A5637281}"/>
              </a:ext>
            </a:extLst>
          </p:cNvPr>
          <p:cNvSpPr>
            <a:spLocks noGrp="1"/>
          </p:cNvSpPr>
          <p:nvPr>
            <p:ph type="sldNum" sz="quarter" idx="12"/>
          </p:nvPr>
        </p:nvSpPr>
        <p:spPr/>
        <p:txBody>
          <a:bodyPr/>
          <a:lstStyle/>
          <a:p>
            <a:fld id="{6056A974-1F10-4C20-85B8-C700D90E4AC4}" type="slidenum">
              <a:rPr kumimoji="1" lang="ja-JP" altLang="en-US" smtClean="0"/>
              <a:t>2</a:t>
            </a:fld>
            <a:endParaRPr kumimoji="1" lang="ja-JP" altLang="en-US"/>
          </a:p>
        </p:txBody>
      </p:sp>
      <p:pic>
        <p:nvPicPr>
          <p:cNvPr id="7" name="Picture 6" descr="A qr code with a logo&#10;&#10;AI-generated content may be incorrect.">
            <a:extLst>
              <a:ext uri="{FF2B5EF4-FFF2-40B4-BE49-F238E27FC236}">
                <a16:creationId xmlns:a16="http://schemas.microsoft.com/office/drawing/2014/main" id="{1AF5B36A-84F2-EC5B-FC67-B65F5FA2C8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70782" y="216848"/>
            <a:ext cx="1266160" cy="1266160"/>
          </a:xfrm>
          <a:prstGeom prst="rect">
            <a:avLst/>
          </a:prstGeom>
        </p:spPr>
      </p:pic>
    </p:spTree>
    <p:extLst>
      <p:ext uri="{BB962C8B-B14F-4D97-AF65-F5344CB8AC3E}">
        <p14:creationId xmlns:p14="http://schemas.microsoft.com/office/powerpoint/2010/main" val="1732863744"/>
      </p:ext>
    </p:extLst>
  </p:cSld>
  <p:clrMapOvr>
    <a:masterClrMapping/>
  </p:clrMapOvr>
  <mc:AlternateContent xmlns:mc="http://schemas.openxmlformats.org/markup-compatibility/2006" xmlns:p14="http://schemas.microsoft.com/office/powerpoint/2010/main">
    <mc:Choice Requires="p14">
      <p:transition p14:dur="10" advClick="0" advTm="25000"/>
    </mc:Choice>
    <mc:Fallback xmlns="">
      <p:transition advClick="0" advTm="25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439EC5-EA8B-D7D5-9CE6-AB036D8CD530}"/>
              </a:ext>
            </a:extLst>
          </p:cNvPr>
          <p:cNvSpPr>
            <a:spLocks noGrp="1"/>
          </p:cNvSpPr>
          <p:nvPr>
            <p:ph type="title"/>
          </p:nvPr>
        </p:nvSpPr>
        <p:spPr/>
        <p:txBody>
          <a:bodyPr/>
          <a:lstStyle/>
          <a:p>
            <a:r>
              <a:rPr lang="ja-JP" altLang="en-US" dirty="0"/>
              <a:t>方法</a:t>
            </a:r>
            <a:endParaRPr kumimoji="1" lang="ja-JP" altLang="en-US" dirty="0"/>
          </a:p>
        </p:txBody>
      </p:sp>
      <p:sp>
        <p:nvSpPr>
          <p:cNvPr id="3" name="コンテンツ プレースホルダー 2">
            <a:extLst>
              <a:ext uri="{FF2B5EF4-FFF2-40B4-BE49-F238E27FC236}">
                <a16:creationId xmlns:a16="http://schemas.microsoft.com/office/drawing/2014/main" id="{EBC37485-F020-A988-CE1C-35272957FC2A}"/>
              </a:ext>
            </a:extLst>
          </p:cNvPr>
          <p:cNvSpPr>
            <a:spLocks noGrp="1"/>
          </p:cNvSpPr>
          <p:nvPr>
            <p:ph idx="1"/>
          </p:nvPr>
        </p:nvSpPr>
        <p:spPr/>
        <p:txBody>
          <a:bodyPr>
            <a:normAutofit/>
          </a:bodyPr>
          <a:lstStyle/>
          <a:p>
            <a:r>
              <a:rPr kumimoji="1" lang="ja-JP" altLang="en-US" sz="2800" dirty="0"/>
              <a:t>シナプスの重みの重要度を区別し、</a:t>
            </a:r>
            <a:r>
              <a:rPr kumimoji="1" lang="en-US" altLang="ja-JP" sz="2800" dirty="0"/>
              <a:t>3</a:t>
            </a:r>
            <a:r>
              <a:rPr kumimoji="1" lang="ja-JP" altLang="en-US" sz="2800" dirty="0"/>
              <a:t>次元構造の層を使ってそれらを分離するといった方法を用います。その結果、低消費電力技術に伴う問題は、重要性の低いビットにしか影響しません。したがって、性能を維持しつつ、消費電力を劇的に削減することができます</a:t>
            </a:r>
          </a:p>
        </p:txBody>
      </p:sp>
      <p:cxnSp>
        <p:nvCxnSpPr>
          <p:cNvPr id="15" name="直線矢印コネクタ 14">
            <a:extLst>
              <a:ext uri="{FF2B5EF4-FFF2-40B4-BE49-F238E27FC236}">
                <a16:creationId xmlns:a16="http://schemas.microsoft.com/office/drawing/2014/main" id="{AACDCA5C-F957-8EF3-E24B-262D56250CC8}"/>
              </a:ext>
            </a:extLst>
          </p:cNvPr>
          <p:cNvCxnSpPr>
            <a:cxnSpLocks/>
          </p:cNvCxnSpPr>
          <p:nvPr/>
        </p:nvCxnSpPr>
        <p:spPr>
          <a:xfrm>
            <a:off x="4445000" y="4660711"/>
            <a:ext cx="2164882" cy="0"/>
          </a:xfrm>
          <a:prstGeom prst="straightConnector1">
            <a:avLst/>
          </a:prstGeom>
          <a:noFill/>
          <a:ln w="38100" cap="flat" cmpd="sng" algn="ctr">
            <a:solidFill>
              <a:sysClr val="windowText" lastClr="000000"/>
            </a:solidFill>
            <a:prstDash val="solid"/>
            <a:miter lim="800000"/>
            <a:tailEnd type="triangle"/>
          </a:ln>
          <a:effectLst/>
        </p:spPr>
      </p:cxnSp>
      <p:graphicFrame>
        <p:nvGraphicFramePr>
          <p:cNvPr id="16" name="表 15">
            <a:extLst>
              <a:ext uri="{FF2B5EF4-FFF2-40B4-BE49-F238E27FC236}">
                <a16:creationId xmlns:a16="http://schemas.microsoft.com/office/drawing/2014/main" id="{23E1969F-9500-CFD8-2EB2-39ABF554F7A8}"/>
              </a:ext>
            </a:extLst>
          </p:cNvPr>
          <p:cNvGraphicFramePr>
            <a:graphicFrameLocks noGrp="1"/>
          </p:cNvGraphicFramePr>
          <p:nvPr>
            <p:extLst>
              <p:ext uri="{D42A27DB-BD31-4B8C-83A1-F6EECF244321}">
                <p14:modId xmlns:p14="http://schemas.microsoft.com/office/powerpoint/2010/main" val="3218922746"/>
              </p:ext>
            </p:extLst>
          </p:nvPr>
        </p:nvGraphicFramePr>
        <p:xfrm>
          <a:off x="6967351" y="4433662"/>
          <a:ext cx="4188331" cy="459077"/>
        </p:xfrm>
        <a:graphic>
          <a:graphicData uri="http://schemas.openxmlformats.org/drawingml/2006/table">
            <a:tbl>
              <a:tblPr firstRow="1" bandRow="1"/>
              <a:tblGrid>
                <a:gridCol w="508550">
                  <a:extLst>
                    <a:ext uri="{9D8B030D-6E8A-4147-A177-3AD203B41FA5}">
                      <a16:colId xmlns:a16="http://schemas.microsoft.com/office/drawing/2014/main" val="83257431"/>
                    </a:ext>
                  </a:extLst>
                </a:gridCol>
                <a:gridCol w="508550">
                  <a:extLst>
                    <a:ext uri="{9D8B030D-6E8A-4147-A177-3AD203B41FA5}">
                      <a16:colId xmlns:a16="http://schemas.microsoft.com/office/drawing/2014/main" val="1549196639"/>
                    </a:ext>
                  </a:extLst>
                </a:gridCol>
                <a:gridCol w="508550">
                  <a:extLst>
                    <a:ext uri="{9D8B030D-6E8A-4147-A177-3AD203B41FA5}">
                      <a16:colId xmlns:a16="http://schemas.microsoft.com/office/drawing/2014/main" val="3884133652"/>
                    </a:ext>
                  </a:extLst>
                </a:gridCol>
                <a:gridCol w="1129381">
                  <a:extLst>
                    <a:ext uri="{9D8B030D-6E8A-4147-A177-3AD203B41FA5}">
                      <a16:colId xmlns:a16="http://schemas.microsoft.com/office/drawing/2014/main" val="2061693291"/>
                    </a:ext>
                  </a:extLst>
                </a:gridCol>
                <a:gridCol w="511100">
                  <a:extLst>
                    <a:ext uri="{9D8B030D-6E8A-4147-A177-3AD203B41FA5}">
                      <a16:colId xmlns:a16="http://schemas.microsoft.com/office/drawing/2014/main" val="3403361754"/>
                    </a:ext>
                  </a:extLst>
                </a:gridCol>
                <a:gridCol w="511100">
                  <a:extLst>
                    <a:ext uri="{9D8B030D-6E8A-4147-A177-3AD203B41FA5}">
                      <a16:colId xmlns:a16="http://schemas.microsoft.com/office/drawing/2014/main" val="1542390121"/>
                    </a:ext>
                  </a:extLst>
                </a:gridCol>
                <a:gridCol w="511100">
                  <a:extLst>
                    <a:ext uri="{9D8B030D-6E8A-4147-A177-3AD203B41FA5}">
                      <a16:colId xmlns:a16="http://schemas.microsoft.com/office/drawing/2014/main" val="53803050"/>
                    </a:ext>
                  </a:extLst>
                </a:gridCol>
              </a:tblGrid>
              <a:tr h="459077">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pPr algn="ctr"/>
                      <a:r>
                        <a:rPr kumimoji="1" lang="en-US" altLang="ja-JP" sz="2200" b="0" dirty="0">
                          <a:solidFill>
                            <a:schemeClr val="tx1"/>
                          </a:solidFill>
                        </a:rPr>
                        <a:t>1</a:t>
                      </a:r>
                      <a:endParaRPr kumimoji="1" lang="ja-JP" altLang="en-US" sz="2200" b="0" dirty="0">
                        <a:solidFill>
                          <a:schemeClr val="tx1"/>
                        </a:solidFill>
                      </a:endParaRPr>
                    </a:p>
                  </a:txBody>
                  <a:tcPr marL="0" marR="0" marT="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pPr algn="ctr"/>
                      <a:r>
                        <a:rPr kumimoji="1" lang="en-US" altLang="ja-JP" sz="2200" b="0" dirty="0">
                          <a:solidFill>
                            <a:schemeClr val="tx1"/>
                          </a:solidFill>
                        </a:rPr>
                        <a:t>0</a:t>
                      </a:r>
                      <a:endParaRPr kumimoji="1" lang="ja-JP" altLang="en-US" sz="2200" b="0" dirty="0">
                        <a:solidFill>
                          <a:schemeClr val="tx1"/>
                        </a:solidFill>
                      </a:endParaRPr>
                    </a:p>
                  </a:txBody>
                  <a:tcPr marL="0" marR="0" marT="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pPr algn="ctr"/>
                      <a:r>
                        <a:rPr kumimoji="1" lang="en-US" altLang="ja-JP" sz="2200" b="0" dirty="0">
                          <a:solidFill>
                            <a:schemeClr val="tx1"/>
                          </a:solidFill>
                        </a:rPr>
                        <a:t>1</a:t>
                      </a:r>
                      <a:endParaRPr kumimoji="1" lang="ja-JP" altLang="en-US" sz="2200" b="0" dirty="0">
                        <a:solidFill>
                          <a:schemeClr val="tx1"/>
                        </a:solidFill>
                      </a:endParaRPr>
                    </a:p>
                  </a:txBody>
                  <a:tcPr marL="0" marR="0" marT="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pPr algn="ctr"/>
                      <a:endParaRPr kumimoji="1" lang="ja-JP" altLang="en-US" sz="2200" b="0" dirty="0">
                        <a:solidFill>
                          <a:schemeClr val="tx1"/>
                        </a:solidFill>
                      </a:endParaRPr>
                    </a:p>
                  </a:txBody>
                  <a:tcPr marL="0" marR="0" marT="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pPr algn="ctr"/>
                      <a:r>
                        <a:rPr kumimoji="1" lang="en-US" altLang="ja-JP" sz="2200" b="0" dirty="0">
                          <a:solidFill>
                            <a:schemeClr val="tx1"/>
                          </a:solidFill>
                        </a:rPr>
                        <a:t>0</a:t>
                      </a:r>
                      <a:endParaRPr kumimoji="1" lang="ja-JP" altLang="en-US" sz="2200" b="0" dirty="0">
                        <a:solidFill>
                          <a:schemeClr val="tx1"/>
                        </a:solidFill>
                      </a:endParaRPr>
                    </a:p>
                  </a:txBody>
                  <a:tcPr marL="0" marR="0" marT="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pPr algn="ctr"/>
                      <a:r>
                        <a:rPr kumimoji="1" lang="en-US" altLang="ja-JP" sz="2200" b="0" dirty="0">
                          <a:solidFill>
                            <a:schemeClr val="tx1"/>
                          </a:solidFill>
                        </a:rPr>
                        <a:t>0</a:t>
                      </a:r>
                      <a:endParaRPr kumimoji="1" lang="ja-JP" altLang="en-US" sz="2200" b="0" dirty="0">
                        <a:solidFill>
                          <a:schemeClr val="tx1"/>
                        </a:solidFill>
                      </a:endParaRPr>
                    </a:p>
                  </a:txBody>
                  <a:tcPr marL="0" marR="0" marT="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pPr algn="ctr"/>
                      <a:r>
                        <a:rPr kumimoji="1" lang="en-US" altLang="ja-JP" sz="2200" b="0" dirty="0">
                          <a:solidFill>
                            <a:schemeClr val="tx1"/>
                          </a:solidFill>
                        </a:rPr>
                        <a:t>1</a:t>
                      </a:r>
                      <a:endParaRPr kumimoji="1" lang="ja-JP" altLang="en-US" sz="2200" b="0" dirty="0">
                        <a:solidFill>
                          <a:schemeClr val="tx1"/>
                        </a:solidFill>
                      </a:endParaRPr>
                    </a:p>
                  </a:txBody>
                  <a:tcPr marL="0" marR="0" marT="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5392496"/>
                  </a:ext>
                </a:extLst>
              </a:tr>
            </a:tbl>
          </a:graphicData>
        </a:graphic>
      </p:graphicFrame>
      <p:cxnSp>
        <p:nvCxnSpPr>
          <p:cNvPr id="17" name="直線コネクタ 16">
            <a:extLst>
              <a:ext uri="{FF2B5EF4-FFF2-40B4-BE49-F238E27FC236}">
                <a16:creationId xmlns:a16="http://schemas.microsoft.com/office/drawing/2014/main" id="{12AE6877-F339-E011-AF10-CAD75C41AA05}"/>
              </a:ext>
            </a:extLst>
          </p:cNvPr>
          <p:cNvCxnSpPr>
            <a:cxnSpLocks/>
          </p:cNvCxnSpPr>
          <p:nvPr/>
        </p:nvCxnSpPr>
        <p:spPr>
          <a:xfrm>
            <a:off x="8729907" y="4660711"/>
            <a:ext cx="748314" cy="1"/>
          </a:xfrm>
          <a:prstGeom prst="line">
            <a:avLst/>
          </a:prstGeom>
          <a:noFill/>
          <a:ln w="19050" cap="flat" cmpd="sng" algn="ctr">
            <a:solidFill>
              <a:sysClr val="windowText" lastClr="000000"/>
            </a:solidFill>
            <a:prstDash val="sysDot"/>
            <a:miter lim="800000"/>
          </a:ln>
          <a:effectLst/>
        </p:spPr>
      </p:cxnSp>
      <p:sp>
        <p:nvSpPr>
          <p:cNvPr id="18" name="テキスト ボックス 17">
            <a:extLst>
              <a:ext uri="{FF2B5EF4-FFF2-40B4-BE49-F238E27FC236}">
                <a16:creationId xmlns:a16="http://schemas.microsoft.com/office/drawing/2014/main" id="{C814167B-1AA8-C23E-142F-7AC80A64C999}"/>
              </a:ext>
            </a:extLst>
          </p:cNvPr>
          <p:cNvSpPr txBox="1"/>
          <p:nvPr/>
        </p:nvSpPr>
        <p:spPr>
          <a:xfrm>
            <a:off x="1187603" y="4383717"/>
            <a:ext cx="3140457" cy="584775"/>
          </a:xfrm>
          <a:prstGeom prst="rect">
            <a:avLst/>
          </a:prstGeom>
          <a:noFill/>
        </p:spPr>
        <p:txBody>
          <a:bodyPr wrap="square" rtlCol="0">
            <a:spAutoFit/>
          </a:bodyPr>
          <a:lstStyle/>
          <a:p>
            <a:pPr algn="ctr"/>
            <a:r>
              <a:rPr lang="ja-JP" altLang="en-US" sz="3200" b="1" dirty="0">
                <a:solidFill>
                  <a:prstClr val="black"/>
                </a:solidFill>
                <a:latin typeface="东文宋体" charset="0"/>
                <a:ea typeface="游ゴシック" panose="020B0400000000000000" pitchFamily="50" charset="-128"/>
              </a:rPr>
              <a:t>シナプス</a:t>
            </a:r>
            <a:r>
              <a:rPr lang="ja-JP" altLang="en-US" sz="3200" b="1">
                <a:solidFill>
                  <a:prstClr val="black"/>
                </a:solidFill>
                <a:latin typeface="东文宋体" charset="0"/>
                <a:ea typeface="游ゴシック" panose="020B0400000000000000" pitchFamily="50" charset="-128"/>
              </a:rPr>
              <a:t>の重み</a:t>
            </a:r>
            <a:endParaRPr lang="en-US" altLang="ja-JP" sz="3200" b="1" dirty="0">
              <a:solidFill>
                <a:prstClr val="black"/>
              </a:solidFill>
              <a:latin typeface="东文宋体" charset="0"/>
              <a:ea typeface="游ゴシック" panose="020B0400000000000000" pitchFamily="50" charset="-128"/>
            </a:endParaRPr>
          </a:p>
        </p:txBody>
      </p:sp>
      <p:sp>
        <p:nvSpPr>
          <p:cNvPr id="19" name="テキスト ボックス 18">
            <a:extLst>
              <a:ext uri="{FF2B5EF4-FFF2-40B4-BE49-F238E27FC236}">
                <a16:creationId xmlns:a16="http://schemas.microsoft.com/office/drawing/2014/main" id="{B8BC0174-B887-2607-0B9E-C6A6FDAF6010}"/>
              </a:ext>
            </a:extLst>
          </p:cNvPr>
          <p:cNvSpPr txBox="1"/>
          <p:nvPr/>
        </p:nvSpPr>
        <p:spPr>
          <a:xfrm>
            <a:off x="3784116" y="4771826"/>
            <a:ext cx="3438993" cy="830997"/>
          </a:xfrm>
          <a:prstGeom prst="rect">
            <a:avLst/>
          </a:prstGeom>
          <a:noFill/>
        </p:spPr>
        <p:txBody>
          <a:bodyPr wrap="square" rtlCol="0">
            <a:spAutoFit/>
          </a:bodyPr>
          <a:lstStyle/>
          <a:p>
            <a:pPr algn="ctr"/>
            <a:r>
              <a:rPr lang="ja-JP" altLang="en-US" sz="2400" b="1" dirty="0">
                <a:solidFill>
                  <a:prstClr val="black"/>
                </a:solidFill>
                <a:latin typeface="东文宋体" charset="0"/>
                <a:ea typeface="游ゴシック" panose="020B0400000000000000" pitchFamily="50" charset="-128"/>
              </a:rPr>
              <a:t>バイナリとして</a:t>
            </a:r>
            <a:endParaRPr lang="en-US" altLang="ja-JP" sz="2400" b="1" dirty="0">
              <a:solidFill>
                <a:prstClr val="black"/>
              </a:solidFill>
              <a:latin typeface="东文宋体" charset="0"/>
              <a:ea typeface="游ゴシック" panose="020B0400000000000000" pitchFamily="50" charset="-128"/>
            </a:endParaRPr>
          </a:p>
          <a:p>
            <a:pPr algn="ctr"/>
            <a:r>
              <a:rPr lang="ja-JP" altLang="en-US" sz="2400" b="1" dirty="0">
                <a:solidFill>
                  <a:prstClr val="black"/>
                </a:solidFill>
                <a:latin typeface="东文宋体" charset="0"/>
                <a:ea typeface="游ゴシック" panose="020B0400000000000000" pitchFamily="50" charset="-128"/>
              </a:rPr>
              <a:t>メモリにストア</a:t>
            </a:r>
          </a:p>
        </p:txBody>
      </p:sp>
      <p:sp>
        <p:nvSpPr>
          <p:cNvPr id="21" name="テキスト ボックス 20">
            <a:extLst>
              <a:ext uri="{FF2B5EF4-FFF2-40B4-BE49-F238E27FC236}">
                <a16:creationId xmlns:a16="http://schemas.microsoft.com/office/drawing/2014/main" id="{EA48B122-268E-0C0A-80C2-B1522E58ADA5}"/>
              </a:ext>
            </a:extLst>
          </p:cNvPr>
          <p:cNvSpPr txBox="1"/>
          <p:nvPr/>
        </p:nvSpPr>
        <p:spPr>
          <a:xfrm>
            <a:off x="8405357" y="5478611"/>
            <a:ext cx="1354492" cy="523220"/>
          </a:xfrm>
          <a:prstGeom prst="rect">
            <a:avLst/>
          </a:prstGeom>
          <a:noFill/>
        </p:spPr>
        <p:txBody>
          <a:bodyPr wrap="square" rtlCol="0">
            <a:spAutoFit/>
          </a:bodyPr>
          <a:lstStyle/>
          <a:p>
            <a:pPr algn="ctr"/>
            <a:r>
              <a:rPr lang="ja-JP" altLang="en-US" sz="2800" b="1" dirty="0">
                <a:solidFill>
                  <a:prstClr val="black"/>
                </a:solidFill>
                <a:latin typeface="东文宋体" charset="0"/>
                <a:ea typeface="游ゴシック" panose="020B0400000000000000" pitchFamily="50" charset="-128"/>
              </a:rPr>
              <a:t>重要度</a:t>
            </a:r>
          </a:p>
        </p:txBody>
      </p:sp>
      <p:sp>
        <p:nvSpPr>
          <p:cNvPr id="22" name="テキスト ボックス 21">
            <a:extLst>
              <a:ext uri="{FF2B5EF4-FFF2-40B4-BE49-F238E27FC236}">
                <a16:creationId xmlns:a16="http://schemas.microsoft.com/office/drawing/2014/main" id="{8E5293EE-D67D-42BE-028D-89168DDE2ACA}"/>
              </a:ext>
            </a:extLst>
          </p:cNvPr>
          <p:cNvSpPr txBox="1"/>
          <p:nvPr/>
        </p:nvSpPr>
        <p:spPr>
          <a:xfrm>
            <a:off x="10825158" y="5018048"/>
            <a:ext cx="269562" cy="584775"/>
          </a:xfrm>
          <a:prstGeom prst="rect">
            <a:avLst/>
          </a:prstGeom>
          <a:noFill/>
        </p:spPr>
        <p:txBody>
          <a:bodyPr wrap="square" rtlCol="0">
            <a:spAutoFit/>
          </a:bodyPr>
          <a:lstStyle/>
          <a:p>
            <a:pPr algn="ctr"/>
            <a:r>
              <a:rPr lang="ja-JP" altLang="en-US" sz="3200" b="1" dirty="0">
                <a:solidFill>
                  <a:prstClr val="black"/>
                </a:solidFill>
                <a:latin typeface="东文宋体" charset="0"/>
                <a:ea typeface="游ゴシック" panose="020B0400000000000000" pitchFamily="50" charset="-128"/>
              </a:rPr>
              <a:t>低</a:t>
            </a:r>
          </a:p>
        </p:txBody>
      </p:sp>
      <p:sp>
        <p:nvSpPr>
          <p:cNvPr id="23" name="テキスト ボックス 22">
            <a:extLst>
              <a:ext uri="{FF2B5EF4-FFF2-40B4-BE49-F238E27FC236}">
                <a16:creationId xmlns:a16="http://schemas.microsoft.com/office/drawing/2014/main" id="{0B9BAD11-96BA-BC0F-4EBE-2800EECBC3F1}"/>
              </a:ext>
            </a:extLst>
          </p:cNvPr>
          <p:cNvSpPr txBox="1"/>
          <p:nvPr/>
        </p:nvSpPr>
        <p:spPr>
          <a:xfrm>
            <a:off x="7070487" y="5018048"/>
            <a:ext cx="269562" cy="584775"/>
          </a:xfrm>
          <a:prstGeom prst="rect">
            <a:avLst/>
          </a:prstGeom>
          <a:noFill/>
        </p:spPr>
        <p:txBody>
          <a:bodyPr wrap="square" rtlCol="0">
            <a:spAutoFit/>
          </a:bodyPr>
          <a:lstStyle/>
          <a:p>
            <a:pPr algn="ctr"/>
            <a:r>
              <a:rPr lang="ja-JP" altLang="en-US" sz="3200" b="1" dirty="0">
                <a:solidFill>
                  <a:prstClr val="black"/>
                </a:solidFill>
                <a:latin typeface="东文宋体" charset="0"/>
                <a:ea typeface="游ゴシック" panose="020B0400000000000000" pitchFamily="50" charset="-128"/>
              </a:rPr>
              <a:t>高</a:t>
            </a:r>
          </a:p>
        </p:txBody>
      </p:sp>
      <p:cxnSp>
        <p:nvCxnSpPr>
          <p:cNvPr id="32" name="直線矢印コネクタ 31">
            <a:extLst>
              <a:ext uri="{FF2B5EF4-FFF2-40B4-BE49-F238E27FC236}">
                <a16:creationId xmlns:a16="http://schemas.microsoft.com/office/drawing/2014/main" id="{FAD29358-9FA6-7AEC-450C-CA50D4E0D506}"/>
              </a:ext>
            </a:extLst>
          </p:cNvPr>
          <p:cNvCxnSpPr>
            <a:cxnSpLocks/>
          </p:cNvCxnSpPr>
          <p:nvPr/>
        </p:nvCxnSpPr>
        <p:spPr>
          <a:xfrm>
            <a:off x="7639589" y="5308474"/>
            <a:ext cx="2928950" cy="0"/>
          </a:xfrm>
          <a:prstGeom prst="straightConnector1">
            <a:avLst/>
          </a:prstGeom>
          <a:ln w="28575">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165B3876-8C06-C2F9-1352-D35807D94219}"/>
              </a:ext>
            </a:extLst>
          </p:cNvPr>
          <p:cNvSpPr>
            <a:spLocks noGrp="1"/>
          </p:cNvSpPr>
          <p:nvPr>
            <p:ph type="sldNum" sz="quarter" idx="12"/>
          </p:nvPr>
        </p:nvSpPr>
        <p:spPr/>
        <p:txBody>
          <a:bodyPr/>
          <a:lstStyle/>
          <a:p>
            <a:fld id="{6056A974-1F10-4C20-85B8-C700D90E4AC4}" type="slidenum">
              <a:rPr kumimoji="1" lang="ja-JP" altLang="en-US" smtClean="0"/>
              <a:t>3</a:t>
            </a:fld>
            <a:endParaRPr kumimoji="1" lang="ja-JP" altLang="en-US"/>
          </a:p>
        </p:txBody>
      </p:sp>
      <p:pic>
        <p:nvPicPr>
          <p:cNvPr id="6" name="Picture 5" descr="A qr code with a logo&#10;&#10;AI-generated content may be incorrect.">
            <a:extLst>
              <a:ext uri="{FF2B5EF4-FFF2-40B4-BE49-F238E27FC236}">
                <a16:creationId xmlns:a16="http://schemas.microsoft.com/office/drawing/2014/main" id="{07846C15-B874-C171-64FC-B8228F9CEE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70782" y="216848"/>
            <a:ext cx="1266160" cy="1266160"/>
          </a:xfrm>
          <a:prstGeom prst="rect">
            <a:avLst/>
          </a:prstGeom>
        </p:spPr>
      </p:pic>
    </p:spTree>
    <p:extLst>
      <p:ext uri="{BB962C8B-B14F-4D97-AF65-F5344CB8AC3E}">
        <p14:creationId xmlns:p14="http://schemas.microsoft.com/office/powerpoint/2010/main" val="2910091397"/>
      </p:ext>
    </p:extLst>
  </p:cSld>
  <p:clrMapOvr>
    <a:masterClrMapping/>
  </p:clrMapOvr>
  <mc:AlternateContent xmlns:mc="http://schemas.openxmlformats.org/markup-compatibility/2006" xmlns:p14="http://schemas.microsoft.com/office/powerpoint/2010/main">
    <mc:Choice Requires="p14">
      <p:transition p14:dur="10" advClick="0" advTm="25000"/>
    </mc:Choice>
    <mc:Fallback xmlns="">
      <p:transition advClick="0" advTm="25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B246B-7528-438E-34EF-8CF85145EA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2B1E671-5D5A-F0B3-73C3-23C654BEB03D}"/>
              </a:ext>
            </a:extLst>
          </p:cNvPr>
          <p:cNvSpPr>
            <a:spLocks noGrp="1"/>
          </p:cNvSpPr>
          <p:nvPr>
            <p:ph type="title"/>
          </p:nvPr>
        </p:nvSpPr>
        <p:spPr/>
        <p:txBody>
          <a:bodyPr/>
          <a:lstStyle/>
          <a:p>
            <a:r>
              <a:rPr lang="ja-JP" altLang="en-US" dirty="0"/>
              <a:t>概要アーキテクチャ</a:t>
            </a:r>
            <a:endParaRPr kumimoji="1" lang="ja-JP" altLang="en-US" dirty="0"/>
          </a:p>
        </p:txBody>
      </p:sp>
      <p:pic>
        <p:nvPicPr>
          <p:cNvPr id="4" name="Picture 38">
            <a:extLst>
              <a:ext uri="{FF2B5EF4-FFF2-40B4-BE49-F238E27FC236}">
                <a16:creationId xmlns:a16="http://schemas.microsoft.com/office/drawing/2014/main" id="{7A0C43F9-EC6B-4111-3B26-5564E220AD64}"/>
              </a:ext>
            </a:extLst>
          </p:cNvPr>
          <p:cNvPicPr>
            <a:picLocks noChangeAspect="1"/>
          </p:cNvPicPr>
          <p:nvPr/>
        </p:nvPicPr>
        <p:blipFill>
          <a:blip r:embed="rId2"/>
          <a:stretch>
            <a:fillRect/>
          </a:stretch>
        </p:blipFill>
        <p:spPr>
          <a:xfrm>
            <a:off x="1705610" y="1845734"/>
            <a:ext cx="8780780" cy="4186000"/>
          </a:xfrm>
          <a:prstGeom prst="rect">
            <a:avLst/>
          </a:prstGeom>
        </p:spPr>
      </p:pic>
      <p:sp>
        <p:nvSpPr>
          <p:cNvPr id="5" name="Text Box 16">
            <a:extLst>
              <a:ext uri="{FF2B5EF4-FFF2-40B4-BE49-F238E27FC236}">
                <a16:creationId xmlns:a16="http://schemas.microsoft.com/office/drawing/2014/main" id="{34D9607D-97A2-D668-07B3-3BFE54E3E449}"/>
              </a:ext>
            </a:extLst>
          </p:cNvPr>
          <p:cNvSpPr txBox="1"/>
          <p:nvPr/>
        </p:nvSpPr>
        <p:spPr>
          <a:xfrm>
            <a:off x="3858895" y="6140108"/>
            <a:ext cx="5589905" cy="584775"/>
          </a:xfrm>
          <a:prstGeom prst="rect">
            <a:avLst/>
          </a:prstGeom>
          <a:noFill/>
        </p:spPr>
        <p:txBody>
          <a:bodyPr wrap="square" rtlCol="0" anchor="t">
            <a:spAutoFit/>
          </a:bodyPr>
          <a:lstStyle/>
          <a:p>
            <a:r>
              <a:rPr lang="x-none" sz="3200" dirty="0">
                <a:latin typeface="东文宋体" charset="0"/>
                <a:cs typeface="东文宋体" charset="0"/>
              </a:rPr>
              <a:t>(a) 3次元構造 (b) ビット配置</a:t>
            </a:r>
          </a:p>
        </p:txBody>
      </p:sp>
      <p:sp>
        <p:nvSpPr>
          <p:cNvPr id="3" name="Slide Number Placeholder 2">
            <a:extLst>
              <a:ext uri="{FF2B5EF4-FFF2-40B4-BE49-F238E27FC236}">
                <a16:creationId xmlns:a16="http://schemas.microsoft.com/office/drawing/2014/main" id="{E703B082-C3B8-94FD-7006-B87D2C201051}"/>
              </a:ext>
            </a:extLst>
          </p:cNvPr>
          <p:cNvSpPr>
            <a:spLocks noGrp="1"/>
          </p:cNvSpPr>
          <p:nvPr>
            <p:ph type="sldNum" sz="quarter" idx="12"/>
          </p:nvPr>
        </p:nvSpPr>
        <p:spPr/>
        <p:txBody>
          <a:bodyPr/>
          <a:lstStyle/>
          <a:p>
            <a:fld id="{6056A974-1F10-4C20-85B8-C700D90E4AC4}" type="slidenum">
              <a:rPr kumimoji="1" lang="ja-JP" altLang="en-US" smtClean="0"/>
              <a:t>4</a:t>
            </a:fld>
            <a:endParaRPr kumimoji="1" lang="ja-JP" altLang="en-US"/>
          </a:p>
        </p:txBody>
      </p:sp>
      <p:pic>
        <p:nvPicPr>
          <p:cNvPr id="7" name="Picture 6" descr="A qr code with a logo&#10;&#10;AI-generated content may be incorrect.">
            <a:extLst>
              <a:ext uri="{FF2B5EF4-FFF2-40B4-BE49-F238E27FC236}">
                <a16:creationId xmlns:a16="http://schemas.microsoft.com/office/drawing/2014/main" id="{EC2C433D-AE29-5CFA-D306-8936E84B92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0782" y="216848"/>
            <a:ext cx="1266160" cy="1266160"/>
          </a:xfrm>
          <a:prstGeom prst="rect">
            <a:avLst/>
          </a:prstGeom>
        </p:spPr>
      </p:pic>
    </p:spTree>
    <p:extLst>
      <p:ext uri="{BB962C8B-B14F-4D97-AF65-F5344CB8AC3E}">
        <p14:creationId xmlns:p14="http://schemas.microsoft.com/office/powerpoint/2010/main" val="3172809480"/>
      </p:ext>
    </p:extLst>
  </p:cSld>
  <p:clrMapOvr>
    <a:masterClrMapping/>
  </p:clrMapOvr>
  <mc:AlternateContent xmlns:mc="http://schemas.openxmlformats.org/markup-compatibility/2006" xmlns:p14="http://schemas.microsoft.com/office/powerpoint/2010/main">
    <mc:Choice Requires="p14">
      <p:transition p14:dur="10" advClick="0" advTm="20000"/>
    </mc:Choice>
    <mc:Fallback xmlns="">
      <p:transition advClick="0" advTm="20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1E956-5D33-A1D6-C70D-325D9D787B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96295B3-4A9A-FB15-F4C2-9FE7DE6441ED}"/>
              </a:ext>
            </a:extLst>
          </p:cNvPr>
          <p:cNvSpPr>
            <a:spLocks noGrp="1"/>
          </p:cNvSpPr>
          <p:nvPr>
            <p:ph type="title"/>
          </p:nvPr>
        </p:nvSpPr>
        <p:spPr/>
        <p:txBody>
          <a:bodyPr/>
          <a:lstStyle/>
          <a:p>
            <a:r>
              <a:rPr lang="ja-JP" altLang="en-US" dirty="0"/>
              <a:t>低電力技術の副作用</a:t>
            </a:r>
            <a:endParaRPr kumimoji="1" lang="ja-JP" altLang="en-US" dirty="0"/>
          </a:p>
        </p:txBody>
      </p:sp>
      <p:pic>
        <p:nvPicPr>
          <p:cNvPr id="6" name="Picture 39">
            <a:extLst>
              <a:ext uri="{FF2B5EF4-FFF2-40B4-BE49-F238E27FC236}">
                <a16:creationId xmlns:a16="http://schemas.microsoft.com/office/drawing/2014/main" id="{F9E507FF-A307-6DCD-1BDC-22F5E0F709F5}"/>
              </a:ext>
            </a:extLst>
          </p:cNvPr>
          <p:cNvPicPr>
            <a:picLocks noChangeAspect="1"/>
          </p:cNvPicPr>
          <p:nvPr/>
        </p:nvPicPr>
        <p:blipFill>
          <a:blip r:embed="rId2"/>
          <a:stretch>
            <a:fillRect/>
          </a:stretch>
        </p:blipFill>
        <p:spPr>
          <a:xfrm>
            <a:off x="1097280" y="2900209"/>
            <a:ext cx="10485120" cy="2717081"/>
          </a:xfrm>
          <a:prstGeom prst="rect">
            <a:avLst/>
          </a:prstGeom>
        </p:spPr>
      </p:pic>
      <p:sp>
        <p:nvSpPr>
          <p:cNvPr id="7" name="Text Box 18">
            <a:extLst>
              <a:ext uri="{FF2B5EF4-FFF2-40B4-BE49-F238E27FC236}">
                <a16:creationId xmlns:a16="http://schemas.microsoft.com/office/drawing/2014/main" id="{2C44E029-BD99-D18A-4F23-41AA696C4275}"/>
              </a:ext>
            </a:extLst>
          </p:cNvPr>
          <p:cNvSpPr txBox="1"/>
          <p:nvPr/>
        </p:nvSpPr>
        <p:spPr>
          <a:xfrm>
            <a:off x="135412" y="6340564"/>
            <a:ext cx="12628088" cy="461665"/>
          </a:xfrm>
          <a:prstGeom prst="rect">
            <a:avLst/>
          </a:prstGeom>
          <a:noFill/>
        </p:spPr>
        <p:txBody>
          <a:bodyPr wrap="square" rtlCol="0" anchor="t">
            <a:spAutoFit/>
          </a:bodyPr>
          <a:lstStyle/>
          <a:p>
            <a:r>
              <a:rPr lang="en-US" sz="2400" dirty="0">
                <a:latin typeface="东文宋体" charset="0"/>
                <a:cs typeface="东文宋体" charset="0"/>
              </a:rPr>
              <a:t>*UV(</a:t>
            </a:r>
            <a:r>
              <a:rPr lang="en-US" altLang="ja-JP" sz="2400" dirty="0">
                <a:latin typeface="东文宋体" charset="0"/>
                <a:cs typeface="东文宋体" charset="0"/>
              </a:rPr>
              <a:t>Under </a:t>
            </a:r>
            <a:r>
              <a:rPr lang="en-US" altLang="ja-JP" sz="2400" dirty="0" err="1">
                <a:latin typeface="东文宋体" charset="0"/>
                <a:cs typeface="东文宋体" charset="0"/>
              </a:rPr>
              <a:t>Volted</a:t>
            </a:r>
            <a:r>
              <a:rPr lang="en-US" altLang="ja-JP" sz="2400" dirty="0">
                <a:latin typeface="东文宋体" charset="0"/>
                <a:cs typeface="东文宋体" charset="0"/>
              </a:rPr>
              <a:t>): 3D IC</a:t>
            </a:r>
            <a:r>
              <a:rPr lang="ja-JP" altLang="en-US" sz="2400" dirty="0">
                <a:latin typeface="东文宋体" charset="0"/>
                <a:cs typeface="东文宋体" charset="0"/>
              </a:rPr>
              <a:t>の層の電源電圧を下げる</a:t>
            </a:r>
            <a:r>
              <a:rPr lang="en-US" altLang="ja-JP" sz="2400" dirty="0">
                <a:latin typeface="东文宋体" charset="0"/>
                <a:cs typeface="东文宋体" charset="0"/>
              </a:rPr>
              <a:t> </a:t>
            </a:r>
            <a:r>
              <a:rPr lang="en-US" sz="2400" dirty="0">
                <a:latin typeface="东文宋体" charset="0"/>
                <a:cs typeface="东文宋体" charset="0"/>
              </a:rPr>
              <a:t>*PG(Power Gated): </a:t>
            </a:r>
            <a:r>
              <a:rPr lang="en-US" altLang="ja-JP" sz="2400" dirty="0">
                <a:latin typeface="东文宋体" charset="0"/>
                <a:cs typeface="东文宋体" charset="0"/>
              </a:rPr>
              <a:t>3D IC</a:t>
            </a:r>
            <a:r>
              <a:rPr lang="ja-JP" altLang="en-US" sz="2400" dirty="0">
                <a:latin typeface="东文宋体" charset="0"/>
                <a:cs typeface="东文宋体" charset="0"/>
              </a:rPr>
              <a:t>の層の電源を切る</a:t>
            </a:r>
            <a:endParaRPr lang="en-US" altLang="ja-JP" sz="2400" dirty="0">
              <a:latin typeface="东文宋体" charset="0"/>
              <a:cs typeface="东文宋体" charset="0"/>
            </a:endParaRPr>
          </a:p>
        </p:txBody>
      </p:sp>
      <p:sp>
        <p:nvSpPr>
          <p:cNvPr id="8" name="Text Box 18">
            <a:extLst>
              <a:ext uri="{FF2B5EF4-FFF2-40B4-BE49-F238E27FC236}">
                <a16:creationId xmlns:a16="http://schemas.microsoft.com/office/drawing/2014/main" id="{2CACD6D6-9D1B-8D4B-699C-6EBD9055FAC7}"/>
              </a:ext>
            </a:extLst>
          </p:cNvPr>
          <p:cNvSpPr txBox="1"/>
          <p:nvPr/>
        </p:nvSpPr>
        <p:spPr>
          <a:xfrm>
            <a:off x="1097280" y="1841731"/>
            <a:ext cx="10058400" cy="954107"/>
          </a:xfrm>
          <a:prstGeom prst="rect">
            <a:avLst/>
          </a:prstGeom>
          <a:noFill/>
        </p:spPr>
        <p:txBody>
          <a:bodyPr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2800" b="0" i="0" u="none" strike="noStrike" kern="1200" cap="none" spc="0" normalizeH="0" baseline="0" noProof="0" dirty="0">
                <a:ln>
                  <a:noFill/>
                </a:ln>
                <a:solidFill>
                  <a:prstClr val="black"/>
                </a:solidFill>
                <a:effectLst/>
                <a:uLnTx/>
                <a:uFillTx/>
                <a:latin typeface="东文宋体" charset="0"/>
                <a:ea typeface="+mn-ea"/>
                <a:cs typeface="东文宋体" charset="0"/>
              </a:rPr>
              <a:t>低電圧化（ｂ）</a:t>
            </a:r>
            <a:r>
              <a:rPr kumimoji="0" lang="en-US" altLang="ja-JP" sz="2800" b="0" i="0" u="none" strike="noStrike" kern="1200" cap="none" spc="0" normalizeH="0" baseline="0" noProof="0" dirty="0">
                <a:ln>
                  <a:noFill/>
                </a:ln>
                <a:solidFill>
                  <a:prstClr val="black"/>
                </a:solidFill>
                <a:effectLst/>
                <a:uLnTx/>
                <a:uFillTx/>
                <a:latin typeface="东文宋体" charset="0"/>
                <a:ea typeface="+mn-ea"/>
                <a:cs typeface="东文宋体" charset="0"/>
              </a:rPr>
              <a:t>:</a:t>
            </a:r>
            <a:r>
              <a:rPr kumimoji="0" lang="x-none" altLang="ja-JP" sz="2800" b="0" i="0" u="none" strike="noStrike" kern="1200" cap="none" spc="0" normalizeH="0" baseline="0" noProof="0" dirty="0">
                <a:ln>
                  <a:noFill/>
                </a:ln>
                <a:solidFill>
                  <a:prstClr val="black"/>
                </a:solidFill>
                <a:effectLst/>
                <a:uLnTx/>
                <a:uFillTx/>
                <a:latin typeface="东文宋体" charset="0"/>
                <a:ea typeface="+mn-ea"/>
                <a:cs typeface="东文宋体" charset="0"/>
              </a:rPr>
              <a:t>ビット値</a:t>
            </a:r>
            <a:r>
              <a:rPr lang="ja-JP" altLang="en-US" sz="2800" dirty="0">
                <a:solidFill>
                  <a:prstClr val="black"/>
                </a:solidFill>
                <a:latin typeface="东文宋体" charset="0"/>
                <a:cs typeface="东文宋体" charset="0"/>
              </a:rPr>
              <a:t>が</a:t>
            </a:r>
            <a:r>
              <a:rPr kumimoji="0" lang="x-none" altLang="ja-JP" sz="2800" b="0" i="0" u="none" strike="noStrike" kern="1200" cap="none" spc="0" normalizeH="0" baseline="0" noProof="0" dirty="0">
                <a:ln>
                  <a:noFill/>
                </a:ln>
                <a:solidFill>
                  <a:prstClr val="black"/>
                </a:solidFill>
                <a:effectLst/>
                <a:uLnTx/>
                <a:uFillTx/>
                <a:latin typeface="东文宋体" charset="0"/>
                <a:ea typeface="+mn-ea"/>
                <a:cs typeface="东文宋体" charset="0"/>
              </a:rPr>
              <a:t>反転</a:t>
            </a:r>
            <a:r>
              <a:rPr kumimoji="0" lang="ja-JP" altLang="en-US" sz="2800" b="0" i="0" u="none" strike="noStrike" kern="1200" cap="none" spc="0" normalizeH="0" baseline="0" noProof="0" dirty="0">
                <a:ln>
                  <a:noFill/>
                </a:ln>
                <a:solidFill>
                  <a:prstClr val="black"/>
                </a:solidFill>
                <a:effectLst/>
                <a:uLnTx/>
                <a:uFillTx/>
                <a:latin typeface="东文宋体" charset="0"/>
                <a:ea typeface="+mn-ea"/>
                <a:cs typeface="东文宋体" charset="0"/>
              </a:rPr>
              <a:t>する可能性</a:t>
            </a:r>
            <a:endParaRPr kumimoji="0" lang="en-US" altLang="ja-JP" sz="2800" b="0" i="0" u="none" strike="noStrike" kern="1200" cap="none" spc="0" normalizeH="0" baseline="0" noProof="0" dirty="0">
              <a:ln>
                <a:noFill/>
              </a:ln>
              <a:solidFill>
                <a:prstClr val="black"/>
              </a:solidFill>
              <a:effectLst/>
              <a:uLnTx/>
              <a:uFillTx/>
              <a:latin typeface="东文宋体" charset="0"/>
              <a:ea typeface="+mn-ea"/>
              <a:cs typeface="东文宋体"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x-none" altLang="ja-JP" sz="2800" b="0" i="0" u="none" strike="noStrike" kern="1200" cap="none" spc="0" normalizeH="0" baseline="0" noProof="0" dirty="0">
                <a:ln>
                  <a:noFill/>
                </a:ln>
                <a:solidFill>
                  <a:prstClr val="black"/>
                </a:solidFill>
                <a:effectLst/>
                <a:uLnTx/>
                <a:uFillTx/>
                <a:latin typeface="东文宋体" charset="0"/>
                <a:ea typeface="+mn-ea"/>
                <a:cs typeface="东文宋体" charset="0"/>
              </a:rPr>
              <a:t>パワーゲーティング</a:t>
            </a:r>
            <a:r>
              <a:rPr lang="ja-JP" altLang="en-US" sz="2800" dirty="0">
                <a:solidFill>
                  <a:prstClr val="black"/>
                </a:solidFill>
                <a:latin typeface="东文宋体" charset="0"/>
                <a:cs typeface="东文宋体" charset="0"/>
              </a:rPr>
              <a:t>（</a:t>
            </a:r>
            <a:r>
              <a:rPr lang="en-US" altLang="ja-JP" sz="2800" dirty="0">
                <a:solidFill>
                  <a:prstClr val="black"/>
                </a:solidFill>
                <a:latin typeface="东文宋体" charset="0"/>
                <a:cs typeface="东文宋体" charset="0"/>
              </a:rPr>
              <a:t>C</a:t>
            </a:r>
            <a:r>
              <a:rPr lang="ja-JP" altLang="en-US" sz="2800" dirty="0">
                <a:solidFill>
                  <a:prstClr val="black"/>
                </a:solidFill>
                <a:latin typeface="东文宋体" charset="0"/>
                <a:cs typeface="东文宋体" charset="0"/>
              </a:rPr>
              <a:t>）</a:t>
            </a:r>
            <a:r>
              <a:rPr kumimoji="0" lang="ja-JP" altLang="en-US" sz="2800" b="0" i="0" u="none" strike="noStrike" kern="1200" cap="none" spc="0" normalizeH="0" baseline="0" noProof="0" dirty="0">
                <a:ln>
                  <a:noFill/>
                </a:ln>
                <a:solidFill>
                  <a:prstClr val="black"/>
                </a:solidFill>
                <a:effectLst/>
                <a:uLnTx/>
                <a:uFillTx/>
                <a:latin typeface="东文宋体" charset="0"/>
                <a:ea typeface="+mn-ea"/>
                <a:cs typeface="东文宋体" charset="0"/>
              </a:rPr>
              <a:t>：</a:t>
            </a:r>
            <a:r>
              <a:rPr kumimoji="0" lang="x-none" altLang="ja-JP" sz="2800" b="0" i="0" u="none" strike="noStrike" kern="1200" cap="none" spc="0" normalizeH="0" baseline="0" noProof="0" dirty="0">
                <a:ln>
                  <a:noFill/>
                </a:ln>
                <a:solidFill>
                  <a:prstClr val="black"/>
                </a:solidFill>
                <a:effectLst/>
                <a:uLnTx/>
                <a:uFillTx/>
                <a:latin typeface="东文宋体" charset="0"/>
                <a:ea typeface="+mn-ea"/>
                <a:cs typeface="东文宋体" charset="0"/>
              </a:rPr>
              <a:t>各ビットの値</a:t>
            </a:r>
            <a:r>
              <a:rPr kumimoji="0" lang="ja-JP" altLang="en-US" sz="2800" b="0" i="0" u="none" strike="noStrike" kern="1200" cap="none" spc="0" normalizeH="0" baseline="0" noProof="0" dirty="0">
                <a:ln>
                  <a:noFill/>
                </a:ln>
                <a:solidFill>
                  <a:prstClr val="black"/>
                </a:solidFill>
                <a:effectLst/>
                <a:uLnTx/>
                <a:uFillTx/>
                <a:latin typeface="东文宋体" charset="0"/>
                <a:ea typeface="+mn-ea"/>
                <a:cs typeface="东文宋体" charset="0"/>
              </a:rPr>
              <a:t>→</a:t>
            </a:r>
            <a:r>
              <a:rPr kumimoji="0" lang="x-none" altLang="ja-JP" sz="2800" b="0" i="0" u="none" strike="noStrike" kern="1200" cap="none" spc="0" normalizeH="0" baseline="0" noProof="0" dirty="0">
                <a:ln>
                  <a:noFill/>
                </a:ln>
                <a:solidFill>
                  <a:prstClr val="black"/>
                </a:solidFill>
                <a:effectLst/>
                <a:uLnTx/>
                <a:uFillTx/>
                <a:latin typeface="东文宋体" charset="0"/>
                <a:ea typeface="+mn-ea"/>
                <a:cs typeface="东文宋体" charset="0"/>
              </a:rPr>
              <a:t>ゼロ</a:t>
            </a:r>
            <a:endParaRPr kumimoji="0" lang="en-US" altLang="ja-JP" sz="2800" b="0" i="0" u="none" strike="noStrike" kern="1200" cap="none" spc="0" normalizeH="0" baseline="0" noProof="0" dirty="0">
              <a:ln>
                <a:noFill/>
              </a:ln>
              <a:solidFill>
                <a:prstClr val="black"/>
              </a:solidFill>
              <a:effectLst/>
              <a:uLnTx/>
              <a:uFillTx/>
              <a:latin typeface="东文宋体" charset="0"/>
              <a:ea typeface="+mn-ea"/>
              <a:cs typeface="东文宋体" charset="0"/>
            </a:endParaRPr>
          </a:p>
        </p:txBody>
      </p:sp>
      <p:sp>
        <p:nvSpPr>
          <p:cNvPr id="9" name="Text Box 17">
            <a:extLst>
              <a:ext uri="{FF2B5EF4-FFF2-40B4-BE49-F238E27FC236}">
                <a16:creationId xmlns:a16="http://schemas.microsoft.com/office/drawing/2014/main" id="{BED10EB6-C542-022C-7E85-14B80DEAFAC9}"/>
              </a:ext>
            </a:extLst>
          </p:cNvPr>
          <p:cNvSpPr txBox="1"/>
          <p:nvPr/>
        </p:nvSpPr>
        <p:spPr>
          <a:xfrm>
            <a:off x="3863340" y="5721661"/>
            <a:ext cx="6604548" cy="461665"/>
          </a:xfrm>
          <a:prstGeom prst="rect">
            <a:avLst/>
          </a:prstGeom>
          <a:noFill/>
        </p:spPr>
        <p:txBody>
          <a:bodyPr wrap="square" rtlCol="0" anchor="t">
            <a:spAutoFit/>
          </a:bodyPr>
          <a:lstStyle/>
          <a:p>
            <a:pPr algn="l"/>
            <a:r>
              <a:rPr lang="x-none" sz="2400" dirty="0">
                <a:latin typeface="东文宋体" charset="0"/>
                <a:cs typeface="东文宋体" charset="0"/>
              </a:rPr>
              <a:t>(a) 通常動作 (b) UV動作 (c) PG動作</a:t>
            </a:r>
          </a:p>
        </p:txBody>
      </p:sp>
      <p:sp>
        <p:nvSpPr>
          <p:cNvPr id="3" name="Slide Number Placeholder 2">
            <a:extLst>
              <a:ext uri="{FF2B5EF4-FFF2-40B4-BE49-F238E27FC236}">
                <a16:creationId xmlns:a16="http://schemas.microsoft.com/office/drawing/2014/main" id="{A71A0F07-F4D1-536C-9B36-3F4CAB9D9A38}"/>
              </a:ext>
            </a:extLst>
          </p:cNvPr>
          <p:cNvSpPr>
            <a:spLocks noGrp="1"/>
          </p:cNvSpPr>
          <p:nvPr>
            <p:ph type="sldNum" sz="quarter" idx="12"/>
          </p:nvPr>
        </p:nvSpPr>
        <p:spPr/>
        <p:txBody>
          <a:bodyPr/>
          <a:lstStyle/>
          <a:p>
            <a:fld id="{6056A974-1F10-4C20-85B8-C700D90E4AC4}" type="slidenum">
              <a:rPr kumimoji="1" lang="ja-JP" altLang="en-US" smtClean="0"/>
              <a:t>5</a:t>
            </a:fld>
            <a:endParaRPr kumimoji="1" lang="ja-JP" altLang="en-US"/>
          </a:p>
        </p:txBody>
      </p:sp>
      <p:pic>
        <p:nvPicPr>
          <p:cNvPr id="5" name="Picture 4" descr="A qr code with a logo&#10;&#10;AI-generated content may be incorrect.">
            <a:extLst>
              <a:ext uri="{FF2B5EF4-FFF2-40B4-BE49-F238E27FC236}">
                <a16:creationId xmlns:a16="http://schemas.microsoft.com/office/drawing/2014/main" id="{2C0E63CE-C62E-E83E-ED13-6D3201E3BE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0782" y="216848"/>
            <a:ext cx="1266160" cy="1266160"/>
          </a:xfrm>
          <a:prstGeom prst="rect">
            <a:avLst/>
          </a:prstGeom>
        </p:spPr>
      </p:pic>
    </p:spTree>
    <p:extLst>
      <p:ext uri="{BB962C8B-B14F-4D97-AF65-F5344CB8AC3E}">
        <p14:creationId xmlns:p14="http://schemas.microsoft.com/office/powerpoint/2010/main" val="1776296008"/>
      </p:ext>
    </p:extLst>
  </p:cSld>
  <p:clrMapOvr>
    <a:masterClrMapping/>
  </p:clrMapOvr>
  <mc:AlternateContent xmlns:mc="http://schemas.openxmlformats.org/markup-compatibility/2006" xmlns:p14="http://schemas.microsoft.com/office/powerpoint/2010/main">
    <mc:Choice Requires="p14">
      <p:transition p14:dur="10" advClick="0" advTm="20000"/>
    </mc:Choice>
    <mc:Fallback xmlns="">
      <p:transition advClick="0" advTm="20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0AF6A-F205-B8C9-41DD-7321B7589B11}"/>
            </a:ext>
          </a:extLst>
        </p:cNvPr>
        <p:cNvGrpSpPr/>
        <p:nvPr/>
      </p:nvGrpSpPr>
      <p:grpSpPr>
        <a:xfrm>
          <a:off x="0" y="0"/>
          <a:ext cx="0" cy="0"/>
          <a:chOff x="0" y="0"/>
          <a:chExt cx="0" cy="0"/>
        </a:xfrm>
      </p:grpSpPr>
      <p:pic>
        <p:nvPicPr>
          <p:cNvPr id="41" name="Picture 175">
            <a:extLst>
              <a:ext uri="{FF2B5EF4-FFF2-40B4-BE49-F238E27FC236}">
                <a16:creationId xmlns:a16="http://schemas.microsoft.com/office/drawing/2014/main" id="{798E8B2D-C5BC-66D2-08BF-F2C8A5C609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146" y="2235624"/>
            <a:ext cx="1918335" cy="1384935"/>
          </a:xfrm>
          <a:prstGeom prst="rect">
            <a:avLst/>
          </a:prstGeom>
        </p:spPr>
      </p:pic>
      <p:sp>
        <p:nvSpPr>
          <p:cNvPr id="42" name="Right Arrow 196">
            <a:extLst>
              <a:ext uri="{FF2B5EF4-FFF2-40B4-BE49-F238E27FC236}">
                <a16:creationId xmlns:a16="http://schemas.microsoft.com/office/drawing/2014/main" id="{6E6E743A-24AF-8BE5-7738-E10374A80D9E}"/>
              </a:ext>
            </a:extLst>
          </p:cNvPr>
          <p:cNvSpPr/>
          <p:nvPr/>
        </p:nvSpPr>
        <p:spPr>
          <a:xfrm rot="5400000">
            <a:off x="1873886" y="3663104"/>
            <a:ext cx="491490" cy="523240"/>
          </a:xfrm>
          <a:prstGeom prst="rightArrow">
            <a:avLst>
              <a:gd name="adj1" fmla="val 50000"/>
              <a:gd name="adj2" fmla="val 40217"/>
            </a:avLst>
          </a:prstGeom>
          <a:solidFill>
            <a:schemeClr val="bg1"/>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3" name="Text Box 197">
            <a:extLst>
              <a:ext uri="{FF2B5EF4-FFF2-40B4-BE49-F238E27FC236}">
                <a16:creationId xmlns:a16="http://schemas.microsoft.com/office/drawing/2014/main" id="{E59406E7-80DC-5625-CC1A-F25BA26AD57A}"/>
              </a:ext>
            </a:extLst>
          </p:cNvPr>
          <p:cNvSpPr txBox="1"/>
          <p:nvPr/>
        </p:nvSpPr>
        <p:spPr>
          <a:xfrm>
            <a:off x="2240281" y="3613574"/>
            <a:ext cx="1800225" cy="461645"/>
          </a:xfrm>
          <a:prstGeom prst="rect">
            <a:avLst/>
          </a:prstGeom>
          <a:noFill/>
        </p:spPr>
        <p:txBody>
          <a:bodyPr wrap="square" rtlCol="0">
            <a:spAutoFit/>
          </a:bodyPr>
          <a:lstStyle/>
          <a:p>
            <a:pPr lvl="0" algn="l"/>
            <a:r>
              <a:rPr lang="ja-JP" altLang="en-US" sz="2400" dirty="0">
                <a:solidFill>
                  <a:schemeClr val="tx1"/>
                </a:solidFill>
                <a:latin typeface="东文宋体" charset="0"/>
                <a:cs typeface="东文宋体" charset="0"/>
                <a:sym typeface="+mn-ea"/>
              </a:rPr>
              <a:t>エンコード</a:t>
            </a:r>
            <a:endParaRPr lang="x-none" altLang="en-US" sz="2400" b="1" dirty="0">
              <a:solidFill>
                <a:schemeClr val="tx1"/>
              </a:solidFill>
              <a:latin typeface="东文宋体" charset="0"/>
              <a:cs typeface="东文宋体" charset="0"/>
              <a:sym typeface="+mn-ea"/>
            </a:endParaRPr>
          </a:p>
        </p:txBody>
      </p:sp>
      <p:sp>
        <p:nvSpPr>
          <p:cNvPr id="46" name="Text Box 182">
            <a:extLst>
              <a:ext uri="{FF2B5EF4-FFF2-40B4-BE49-F238E27FC236}">
                <a16:creationId xmlns:a16="http://schemas.microsoft.com/office/drawing/2014/main" id="{4AD2AB98-1C9A-2CC0-B7C7-0A523849232A}"/>
              </a:ext>
            </a:extLst>
          </p:cNvPr>
          <p:cNvSpPr txBox="1"/>
          <p:nvPr/>
        </p:nvSpPr>
        <p:spPr>
          <a:xfrm>
            <a:off x="1160146" y="1690159"/>
            <a:ext cx="2308860" cy="523240"/>
          </a:xfrm>
          <a:prstGeom prst="rect">
            <a:avLst/>
          </a:prstGeom>
          <a:noFill/>
        </p:spPr>
        <p:txBody>
          <a:bodyPr wrap="square" rtlCol="0">
            <a:spAutoFit/>
          </a:bodyPr>
          <a:lstStyle/>
          <a:p>
            <a:pPr lvl="0" algn="l"/>
            <a:r>
              <a:rPr lang="ja-JP" altLang="en-US" sz="2800" dirty="0">
                <a:solidFill>
                  <a:schemeClr val="tx1"/>
                </a:solidFill>
                <a:latin typeface="东文宋体" charset="0"/>
                <a:cs typeface="东文宋体" charset="0"/>
                <a:sym typeface="+mn-ea"/>
              </a:rPr>
              <a:t>入力データ</a:t>
            </a:r>
            <a:endParaRPr lang="x-none" sz="2800" dirty="0">
              <a:solidFill>
                <a:schemeClr val="tx1"/>
              </a:solidFill>
              <a:latin typeface="东文宋体" charset="0"/>
              <a:cs typeface="东文宋体" charset="0"/>
              <a:sym typeface="+mn-ea"/>
            </a:endParaRPr>
          </a:p>
        </p:txBody>
      </p:sp>
      <p:pic>
        <p:nvPicPr>
          <p:cNvPr id="50" name="Picture 188">
            <a:extLst>
              <a:ext uri="{FF2B5EF4-FFF2-40B4-BE49-F238E27FC236}">
                <a16:creationId xmlns:a16="http://schemas.microsoft.com/office/drawing/2014/main" id="{5C97A229-6750-02FA-C22D-D11B54CDF65C}"/>
              </a:ext>
            </a:extLst>
          </p:cNvPr>
          <p:cNvPicPr>
            <a:picLocks noChangeAspect="1"/>
          </p:cNvPicPr>
          <p:nvPr/>
        </p:nvPicPr>
        <p:blipFill>
          <a:blip r:embed="rId3"/>
          <a:stretch>
            <a:fillRect/>
          </a:stretch>
        </p:blipFill>
        <p:spPr>
          <a:xfrm>
            <a:off x="1108076" y="4275879"/>
            <a:ext cx="2159000" cy="1403350"/>
          </a:xfrm>
          <a:prstGeom prst="rect">
            <a:avLst/>
          </a:prstGeom>
        </p:spPr>
      </p:pic>
      <p:sp>
        <p:nvSpPr>
          <p:cNvPr id="51" name="Text Box 190">
            <a:extLst>
              <a:ext uri="{FF2B5EF4-FFF2-40B4-BE49-F238E27FC236}">
                <a16:creationId xmlns:a16="http://schemas.microsoft.com/office/drawing/2014/main" id="{EBD50051-CF09-CC0E-F19A-0D8FAECF0508}"/>
              </a:ext>
            </a:extLst>
          </p:cNvPr>
          <p:cNvSpPr txBox="1"/>
          <p:nvPr/>
        </p:nvSpPr>
        <p:spPr>
          <a:xfrm>
            <a:off x="1160146" y="5710979"/>
            <a:ext cx="2330450" cy="523240"/>
          </a:xfrm>
          <a:prstGeom prst="rect">
            <a:avLst/>
          </a:prstGeom>
          <a:noFill/>
        </p:spPr>
        <p:txBody>
          <a:bodyPr wrap="square" rtlCol="0">
            <a:spAutoFit/>
          </a:bodyPr>
          <a:lstStyle/>
          <a:p>
            <a:pPr lvl="0" algn="l"/>
            <a:r>
              <a:rPr lang="ja-JP" altLang="en-US" sz="2800" dirty="0">
                <a:solidFill>
                  <a:schemeClr val="tx1"/>
                </a:solidFill>
                <a:latin typeface="东文宋体" charset="0"/>
                <a:cs typeface="东文宋体" charset="0"/>
                <a:sym typeface="+mn-ea"/>
              </a:rPr>
              <a:t>入力スパイク</a:t>
            </a:r>
            <a:endParaRPr lang="x-none" sz="2800" dirty="0">
              <a:solidFill>
                <a:schemeClr val="tx1"/>
              </a:solidFill>
              <a:latin typeface="东文宋体" charset="0"/>
              <a:cs typeface="东文宋体" charset="0"/>
              <a:sym typeface="+mn-ea"/>
            </a:endParaRPr>
          </a:p>
        </p:txBody>
      </p:sp>
      <p:sp>
        <p:nvSpPr>
          <p:cNvPr id="2" name="タイトル 1">
            <a:extLst>
              <a:ext uri="{FF2B5EF4-FFF2-40B4-BE49-F238E27FC236}">
                <a16:creationId xmlns:a16="http://schemas.microsoft.com/office/drawing/2014/main" id="{9075D2CC-24A0-8CD0-DC7B-5D39C47F6E75}"/>
              </a:ext>
            </a:extLst>
          </p:cNvPr>
          <p:cNvSpPr>
            <a:spLocks noGrp="1"/>
          </p:cNvSpPr>
          <p:nvPr>
            <p:ph type="title"/>
          </p:nvPr>
        </p:nvSpPr>
        <p:spPr>
          <a:xfrm>
            <a:off x="1097280" y="379737"/>
            <a:ext cx="10058400" cy="1450757"/>
          </a:xfrm>
        </p:spPr>
        <p:txBody>
          <a:bodyPr/>
          <a:lstStyle/>
          <a:p>
            <a:r>
              <a:rPr lang="ja-JP" altLang="en-US" dirty="0"/>
              <a:t>導入の流れ</a:t>
            </a:r>
            <a:endParaRPr kumimoji="1" lang="ja-JP" altLang="en-US" dirty="0"/>
          </a:p>
        </p:txBody>
      </p:sp>
      <p:sp>
        <p:nvSpPr>
          <p:cNvPr id="61" name="Text Box 15">
            <a:extLst>
              <a:ext uri="{FF2B5EF4-FFF2-40B4-BE49-F238E27FC236}">
                <a16:creationId xmlns:a16="http://schemas.microsoft.com/office/drawing/2014/main" id="{3C2F2B55-6AC7-DF54-AA57-112E85AD7CFE}"/>
              </a:ext>
            </a:extLst>
          </p:cNvPr>
          <p:cNvSpPr txBox="1"/>
          <p:nvPr/>
        </p:nvSpPr>
        <p:spPr>
          <a:xfrm>
            <a:off x="1387793" y="6360135"/>
            <a:ext cx="11038060" cy="461665"/>
          </a:xfrm>
          <a:prstGeom prst="rect">
            <a:avLst/>
          </a:prstGeom>
          <a:noFill/>
        </p:spPr>
        <p:txBody>
          <a:bodyPr wrap="square" rtlCol="0" anchor="t">
            <a:spAutoFit/>
          </a:bodyPr>
          <a:lstStyle/>
          <a:p>
            <a:r>
              <a:rPr lang="x-none" sz="2400" dirty="0">
                <a:latin typeface="东文宋体" charset="0"/>
                <a:cs typeface="东文宋体" charset="0"/>
              </a:rPr>
              <a:t>ソフトウェア上で重みを学習後、ハードウェア上に書き込みます</a:t>
            </a:r>
            <a:endParaRPr lang="en-US" sz="2400" dirty="0"/>
          </a:p>
        </p:txBody>
      </p:sp>
      <p:sp>
        <p:nvSpPr>
          <p:cNvPr id="67" name="Right Arrow 196">
            <a:extLst>
              <a:ext uri="{FF2B5EF4-FFF2-40B4-BE49-F238E27FC236}">
                <a16:creationId xmlns:a16="http://schemas.microsoft.com/office/drawing/2014/main" id="{6876F9A2-09E5-8F8C-7E02-1A8679E6A67F}"/>
              </a:ext>
            </a:extLst>
          </p:cNvPr>
          <p:cNvSpPr/>
          <p:nvPr/>
        </p:nvSpPr>
        <p:spPr>
          <a:xfrm rot="18853486">
            <a:off x="3186857" y="3897210"/>
            <a:ext cx="1344488" cy="523240"/>
          </a:xfrm>
          <a:prstGeom prst="rightArrow">
            <a:avLst>
              <a:gd name="adj1" fmla="val 50000"/>
              <a:gd name="adj2" fmla="val 40217"/>
            </a:avLst>
          </a:prstGeom>
          <a:solidFill>
            <a:schemeClr val="bg1"/>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9" name="Shape 171">
            <a:extLst>
              <a:ext uri="{FF2B5EF4-FFF2-40B4-BE49-F238E27FC236}">
                <a16:creationId xmlns:a16="http://schemas.microsoft.com/office/drawing/2014/main" id="{CEC699DF-C9FD-D616-C1E6-583F7823C8FA}"/>
              </a:ext>
            </a:extLst>
          </p:cNvPr>
          <p:cNvSpPr/>
          <p:nvPr/>
        </p:nvSpPr>
        <p:spPr>
          <a:xfrm>
            <a:off x="4544715" y="2209172"/>
            <a:ext cx="1855438" cy="1606373"/>
          </a:xfrm>
          <a:prstGeom prst="gear9">
            <a:avLst/>
          </a:prstGeom>
          <a:ln>
            <a:solidFill>
              <a:schemeClr val="accent3">
                <a:lumMod val="50000"/>
              </a:schemeClr>
            </a:solidFill>
          </a:ln>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JP"/>
          </a:p>
        </p:txBody>
      </p:sp>
      <p:sp>
        <p:nvSpPr>
          <p:cNvPr id="70" name="Shape 173">
            <a:extLst>
              <a:ext uri="{FF2B5EF4-FFF2-40B4-BE49-F238E27FC236}">
                <a16:creationId xmlns:a16="http://schemas.microsoft.com/office/drawing/2014/main" id="{157F995E-A0B6-607B-DFD7-259DED66F25D}"/>
              </a:ext>
            </a:extLst>
          </p:cNvPr>
          <p:cNvSpPr/>
          <p:nvPr/>
        </p:nvSpPr>
        <p:spPr>
          <a:xfrm>
            <a:off x="4817509" y="2410912"/>
            <a:ext cx="1324445" cy="1202893"/>
          </a:xfrm>
          <a:prstGeom prst="gear9">
            <a:avLst/>
          </a:prstGeom>
          <a:ln>
            <a:solidFill>
              <a:schemeClr val="accent3">
                <a:lumMod val="50000"/>
              </a:schemeClr>
            </a:solidFill>
          </a:ln>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JP"/>
          </a:p>
        </p:txBody>
      </p:sp>
      <p:sp>
        <p:nvSpPr>
          <p:cNvPr id="71" name="Shape 174">
            <a:extLst>
              <a:ext uri="{FF2B5EF4-FFF2-40B4-BE49-F238E27FC236}">
                <a16:creationId xmlns:a16="http://schemas.microsoft.com/office/drawing/2014/main" id="{F308B5E4-B6B9-40E5-F5EF-99E6FF6E648F}"/>
              </a:ext>
            </a:extLst>
          </p:cNvPr>
          <p:cNvSpPr/>
          <p:nvPr/>
        </p:nvSpPr>
        <p:spPr>
          <a:xfrm>
            <a:off x="5040914" y="2613055"/>
            <a:ext cx="877633" cy="798606"/>
          </a:xfrm>
          <a:prstGeom prst="gear9">
            <a:avLst/>
          </a:prstGeom>
          <a:ln>
            <a:solidFill>
              <a:schemeClr val="accent3">
                <a:lumMod val="50000"/>
              </a:schemeClr>
            </a:solidFill>
          </a:ln>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JP"/>
          </a:p>
        </p:txBody>
      </p:sp>
      <p:sp>
        <p:nvSpPr>
          <p:cNvPr id="73" name="Text Box 182">
            <a:extLst>
              <a:ext uri="{FF2B5EF4-FFF2-40B4-BE49-F238E27FC236}">
                <a16:creationId xmlns:a16="http://schemas.microsoft.com/office/drawing/2014/main" id="{EF6DBFD0-0F9A-A5E7-4EA1-45887F30B0AE}"/>
              </a:ext>
            </a:extLst>
          </p:cNvPr>
          <p:cNvSpPr txBox="1"/>
          <p:nvPr/>
        </p:nvSpPr>
        <p:spPr>
          <a:xfrm>
            <a:off x="4568622" y="1683405"/>
            <a:ext cx="2308860" cy="523240"/>
          </a:xfrm>
          <a:prstGeom prst="rect">
            <a:avLst/>
          </a:prstGeom>
          <a:noFill/>
        </p:spPr>
        <p:txBody>
          <a:bodyPr wrap="square" rtlCol="0">
            <a:spAutoFit/>
          </a:bodyPr>
          <a:lstStyle/>
          <a:p>
            <a:pPr lvl="0" algn="l"/>
            <a:r>
              <a:rPr lang="ja-JP" altLang="en-US" sz="2800" dirty="0">
                <a:solidFill>
                  <a:schemeClr val="tx1"/>
                </a:solidFill>
                <a:latin typeface="东文宋体" charset="0"/>
                <a:cs typeface="东文宋体" charset="0"/>
                <a:sym typeface="+mn-ea"/>
              </a:rPr>
              <a:t>トレーニング</a:t>
            </a:r>
            <a:endParaRPr lang="x-none" sz="2800" dirty="0">
              <a:solidFill>
                <a:schemeClr val="tx1"/>
              </a:solidFill>
              <a:latin typeface="东文宋体" charset="0"/>
              <a:cs typeface="东文宋体" charset="0"/>
              <a:sym typeface="+mn-ea"/>
            </a:endParaRPr>
          </a:p>
        </p:txBody>
      </p:sp>
      <p:sp>
        <p:nvSpPr>
          <p:cNvPr id="74" name="Right Arrow 196">
            <a:extLst>
              <a:ext uri="{FF2B5EF4-FFF2-40B4-BE49-F238E27FC236}">
                <a16:creationId xmlns:a16="http://schemas.microsoft.com/office/drawing/2014/main" id="{4AA1E7E3-909E-A66F-DC56-5559F9731013}"/>
              </a:ext>
            </a:extLst>
          </p:cNvPr>
          <p:cNvSpPr/>
          <p:nvPr/>
        </p:nvSpPr>
        <p:spPr>
          <a:xfrm>
            <a:off x="6623558" y="2804580"/>
            <a:ext cx="778705" cy="523240"/>
          </a:xfrm>
          <a:prstGeom prst="rightArrow">
            <a:avLst>
              <a:gd name="adj1" fmla="val 50000"/>
              <a:gd name="adj2" fmla="val 40217"/>
            </a:avLst>
          </a:prstGeom>
          <a:solidFill>
            <a:schemeClr val="bg1"/>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75" name="Picture 168">
            <a:extLst>
              <a:ext uri="{FF2B5EF4-FFF2-40B4-BE49-F238E27FC236}">
                <a16:creationId xmlns:a16="http://schemas.microsoft.com/office/drawing/2014/main" id="{6C7C7735-1894-B328-335B-85910DDC2E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33434" y="1990769"/>
            <a:ext cx="3422246" cy="2019621"/>
          </a:xfrm>
          <a:prstGeom prst="rect">
            <a:avLst/>
          </a:prstGeom>
        </p:spPr>
      </p:pic>
      <p:sp>
        <p:nvSpPr>
          <p:cNvPr id="76" name="Text Box 182">
            <a:extLst>
              <a:ext uri="{FF2B5EF4-FFF2-40B4-BE49-F238E27FC236}">
                <a16:creationId xmlns:a16="http://schemas.microsoft.com/office/drawing/2014/main" id="{2E5602D5-BF9D-4B2E-EF04-891083494150}"/>
              </a:ext>
            </a:extLst>
          </p:cNvPr>
          <p:cNvSpPr txBox="1"/>
          <p:nvPr/>
        </p:nvSpPr>
        <p:spPr>
          <a:xfrm>
            <a:off x="8398193" y="1690159"/>
            <a:ext cx="2308860" cy="523240"/>
          </a:xfrm>
          <a:prstGeom prst="rect">
            <a:avLst/>
          </a:prstGeom>
          <a:noFill/>
        </p:spPr>
        <p:txBody>
          <a:bodyPr wrap="square" rtlCol="0">
            <a:spAutoFit/>
          </a:bodyPr>
          <a:lstStyle/>
          <a:p>
            <a:pPr lvl="0" algn="l"/>
            <a:r>
              <a:rPr lang="en-US" altLang="ja-JP" sz="2800" dirty="0">
                <a:solidFill>
                  <a:schemeClr val="tx1"/>
                </a:solidFill>
                <a:latin typeface="东文宋体" charset="0"/>
                <a:cs typeface="东文宋体" charset="0"/>
                <a:sym typeface="+mn-ea"/>
              </a:rPr>
              <a:t>SNN</a:t>
            </a:r>
            <a:r>
              <a:rPr lang="ja-JP" altLang="en-US" sz="2800" dirty="0">
                <a:solidFill>
                  <a:schemeClr val="tx1"/>
                </a:solidFill>
                <a:latin typeface="东文宋体" charset="0"/>
                <a:cs typeface="东文宋体" charset="0"/>
                <a:sym typeface="+mn-ea"/>
              </a:rPr>
              <a:t>モデル</a:t>
            </a:r>
            <a:endParaRPr lang="x-none" sz="2800" dirty="0">
              <a:solidFill>
                <a:schemeClr val="tx1"/>
              </a:solidFill>
              <a:latin typeface="东文宋体" charset="0"/>
              <a:cs typeface="东文宋体" charset="0"/>
              <a:sym typeface="+mn-ea"/>
            </a:endParaRPr>
          </a:p>
        </p:txBody>
      </p:sp>
      <p:pic>
        <p:nvPicPr>
          <p:cNvPr id="77" name="Picture 186">
            <a:extLst>
              <a:ext uri="{FF2B5EF4-FFF2-40B4-BE49-F238E27FC236}">
                <a16:creationId xmlns:a16="http://schemas.microsoft.com/office/drawing/2014/main" id="{89AE30EE-77F8-D4FB-3DCA-7D1845D28D5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23168" y="4170665"/>
            <a:ext cx="1418786" cy="1422812"/>
          </a:xfrm>
          <a:prstGeom prst="rect">
            <a:avLst/>
          </a:prstGeom>
        </p:spPr>
      </p:pic>
      <p:sp>
        <p:nvSpPr>
          <p:cNvPr id="78" name="Text Box 190">
            <a:extLst>
              <a:ext uri="{FF2B5EF4-FFF2-40B4-BE49-F238E27FC236}">
                <a16:creationId xmlns:a16="http://schemas.microsoft.com/office/drawing/2014/main" id="{20111C9F-A5CB-54F5-CD31-762ED3E3535C}"/>
              </a:ext>
            </a:extLst>
          </p:cNvPr>
          <p:cNvSpPr txBox="1"/>
          <p:nvPr/>
        </p:nvSpPr>
        <p:spPr>
          <a:xfrm>
            <a:off x="4325273" y="5710979"/>
            <a:ext cx="2479073" cy="523220"/>
          </a:xfrm>
          <a:prstGeom prst="rect">
            <a:avLst/>
          </a:prstGeom>
          <a:noFill/>
        </p:spPr>
        <p:txBody>
          <a:bodyPr wrap="square" rtlCol="0">
            <a:spAutoFit/>
          </a:bodyPr>
          <a:lstStyle/>
          <a:p>
            <a:pPr lvl="0" algn="l"/>
            <a:r>
              <a:rPr lang="ja-JP" altLang="en-US" sz="2800" dirty="0">
                <a:solidFill>
                  <a:schemeClr val="tx1"/>
                </a:solidFill>
                <a:latin typeface="东文宋体" charset="0"/>
                <a:cs typeface="东文宋体" charset="0"/>
                <a:sym typeface="+mn-ea"/>
              </a:rPr>
              <a:t>プロセッシング</a:t>
            </a:r>
            <a:endParaRPr lang="x-none" sz="2800" dirty="0">
              <a:solidFill>
                <a:schemeClr val="tx1"/>
              </a:solidFill>
              <a:latin typeface="东文宋体" charset="0"/>
              <a:cs typeface="东文宋体" charset="0"/>
              <a:sym typeface="+mn-ea"/>
            </a:endParaRPr>
          </a:p>
        </p:txBody>
      </p:sp>
      <p:sp>
        <p:nvSpPr>
          <p:cNvPr id="79" name="Right Arrow 196">
            <a:extLst>
              <a:ext uri="{FF2B5EF4-FFF2-40B4-BE49-F238E27FC236}">
                <a16:creationId xmlns:a16="http://schemas.microsoft.com/office/drawing/2014/main" id="{F28F5E11-F0C6-133B-A998-0CA4BEE5BB76}"/>
              </a:ext>
            </a:extLst>
          </p:cNvPr>
          <p:cNvSpPr/>
          <p:nvPr/>
        </p:nvSpPr>
        <p:spPr>
          <a:xfrm rot="8124681">
            <a:off x="6200826" y="3920027"/>
            <a:ext cx="1397411" cy="523240"/>
          </a:xfrm>
          <a:prstGeom prst="rightArrow">
            <a:avLst>
              <a:gd name="adj1" fmla="val 50000"/>
              <a:gd name="adj2" fmla="val 40217"/>
            </a:avLst>
          </a:prstGeom>
          <a:solidFill>
            <a:schemeClr val="bg1"/>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81" name="Picture 167">
            <a:extLst>
              <a:ext uri="{FF2B5EF4-FFF2-40B4-BE49-F238E27FC236}">
                <a16:creationId xmlns:a16="http://schemas.microsoft.com/office/drawing/2014/main" id="{0F041471-CBE3-B4C0-FDC1-D9A96920DF87}"/>
              </a:ext>
            </a:extLst>
          </p:cNvPr>
          <p:cNvPicPr>
            <a:picLocks noChangeAspect="1"/>
          </p:cNvPicPr>
          <p:nvPr/>
        </p:nvPicPr>
        <p:blipFill>
          <a:blip r:embed="rId6"/>
          <a:stretch>
            <a:fillRect/>
          </a:stretch>
        </p:blipFill>
        <p:spPr>
          <a:xfrm>
            <a:off x="8094912" y="4049346"/>
            <a:ext cx="2132330" cy="1613760"/>
          </a:xfrm>
          <a:prstGeom prst="rect">
            <a:avLst/>
          </a:prstGeom>
        </p:spPr>
      </p:pic>
      <p:sp>
        <p:nvSpPr>
          <p:cNvPr id="82" name="Text Box 190">
            <a:extLst>
              <a:ext uri="{FF2B5EF4-FFF2-40B4-BE49-F238E27FC236}">
                <a16:creationId xmlns:a16="http://schemas.microsoft.com/office/drawing/2014/main" id="{614EF5F3-270B-71FA-D02C-24BA73D96B71}"/>
              </a:ext>
            </a:extLst>
          </p:cNvPr>
          <p:cNvSpPr txBox="1"/>
          <p:nvPr/>
        </p:nvSpPr>
        <p:spPr>
          <a:xfrm>
            <a:off x="8094912" y="5710979"/>
            <a:ext cx="2479073" cy="523220"/>
          </a:xfrm>
          <a:prstGeom prst="rect">
            <a:avLst/>
          </a:prstGeom>
          <a:noFill/>
        </p:spPr>
        <p:txBody>
          <a:bodyPr wrap="square" rtlCol="0">
            <a:spAutoFit/>
          </a:bodyPr>
          <a:lstStyle/>
          <a:p>
            <a:pPr lvl="0" algn="l"/>
            <a:r>
              <a:rPr lang="ja-JP" altLang="en-US" sz="2800" dirty="0">
                <a:solidFill>
                  <a:schemeClr val="tx1"/>
                </a:solidFill>
                <a:latin typeface="东文宋体" charset="0"/>
                <a:cs typeface="东文宋体" charset="0"/>
                <a:sym typeface="+mn-ea"/>
              </a:rPr>
              <a:t>出力スパイク</a:t>
            </a:r>
            <a:endParaRPr lang="x-none" sz="2800" dirty="0">
              <a:solidFill>
                <a:schemeClr val="tx1"/>
              </a:solidFill>
              <a:latin typeface="东文宋体" charset="0"/>
              <a:cs typeface="东文宋体" charset="0"/>
              <a:sym typeface="+mn-ea"/>
            </a:endParaRPr>
          </a:p>
        </p:txBody>
      </p:sp>
      <p:sp>
        <p:nvSpPr>
          <p:cNvPr id="83" name="Right Arrow 196">
            <a:extLst>
              <a:ext uri="{FF2B5EF4-FFF2-40B4-BE49-F238E27FC236}">
                <a16:creationId xmlns:a16="http://schemas.microsoft.com/office/drawing/2014/main" id="{AA564A4D-686A-9CF7-B672-8856A237B7EF}"/>
              </a:ext>
            </a:extLst>
          </p:cNvPr>
          <p:cNvSpPr/>
          <p:nvPr/>
        </p:nvSpPr>
        <p:spPr>
          <a:xfrm>
            <a:off x="6648644" y="4743597"/>
            <a:ext cx="1125777" cy="523240"/>
          </a:xfrm>
          <a:prstGeom prst="rightArrow">
            <a:avLst>
              <a:gd name="adj1" fmla="val 50000"/>
              <a:gd name="adj2" fmla="val 40217"/>
            </a:avLst>
          </a:prstGeom>
          <a:solidFill>
            <a:schemeClr val="bg1"/>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B00DBC70-CC1E-30C6-BF98-7E65BAEFBCC6}"/>
              </a:ext>
            </a:extLst>
          </p:cNvPr>
          <p:cNvSpPr>
            <a:spLocks noGrp="1"/>
          </p:cNvSpPr>
          <p:nvPr>
            <p:ph type="sldNum" sz="quarter" idx="12"/>
          </p:nvPr>
        </p:nvSpPr>
        <p:spPr/>
        <p:txBody>
          <a:bodyPr/>
          <a:lstStyle/>
          <a:p>
            <a:fld id="{6056A974-1F10-4C20-85B8-C700D90E4AC4}" type="slidenum">
              <a:rPr kumimoji="1" lang="ja-JP" altLang="en-US" smtClean="0"/>
              <a:t>6</a:t>
            </a:fld>
            <a:endParaRPr kumimoji="1" lang="ja-JP" altLang="en-US"/>
          </a:p>
        </p:txBody>
      </p:sp>
      <p:pic>
        <p:nvPicPr>
          <p:cNvPr id="5" name="Picture 4" descr="A qr code with a logo&#10;&#10;AI-generated content may be incorrect.">
            <a:extLst>
              <a:ext uri="{FF2B5EF4-FFF2-40B4-BE49-F238E27FC236}">
                <a16:creationId xmlns:a16="http://schemas.microsoft.com/office/drawing/2014/main" id="{18ECCAA9-2B8F-9C44-8FEA-7BB45DE8C9D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70782" y="216848"/>
            <a:ext cx="1266160" cy="1266160"/>
          </a:xfrm>
          <a:prstGeom prst="rect">
            <a:avLst/>
          </a:prstGeom>
        </p:spPr>
      </p:pic>
    </p:spTree>
    <p:extLst>
      <p:ext uri="{BB962C8B-B14F-4D97-AF65-F5344CB8AC3E}">
        <p14:creationId xmlns:p14="http://schemas.microsoft.com/office/powerpoint/2010/main" val="3797408197"/>
      </p:ext>
    </p:extLst>
  </p:cSld>
  <p:clrMapOvr>
    <a:masterClrMapping/>
  </p:clrMapOvr>
  <mc:AlternateContent xmlns:mc="http://schemas.openxmlformats.org/markup-compatibility/2006" xmlns:p14="http://schemas.microsoft.com/office/powerpoint/2010/main">
    <mc:Choice Requires="p14">
      <p:transition p14:dur="10" advClick="0" advTm="25000"/>
    </mc:Choice>
    <mc:Fallback xmlns="">
      <p:transition advClick="0" advTm="2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999"/>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99"/>
                                          </p:stCondLst>
                                        </p:cTn>
                                        <p:tgtEl>
                                          <p:spTgt spid="46"/>
                                        </p:tgtEl>
                                        <p:attrNameLst>
                                          <p:attrName>style.visibility</p:attrName>
                                        </p:attrNameLst>
                                      </p:cBhvr>
                                      <p:to>
                                        <p:strVal val="visible"/>
                                      </p:to>
                                    </p:set>
                                  </p:childTnLst>
                                </p:cTn>
                              </p:par>
                              <p:par>
                                <p:cTn id="9" presetID="1" presetClass="entr" presetSubtype="0" fill="hold" nodeType="withEffect">
                                  <p:stCondLst>
                                    <p:cond delay="1000"/>
                                  </p:stCondLst>
                                  <p:childTnLst>
                                    <p:set>
                                      <p:cBhvr>
                                        <p:cTn id="10" dur="1" fill="hold">
                                          <p:stCondLst>
                                            <p:cond delay="999"/>
                                          </p:stCondLst>
                                        </p:cTn>
                                        <p:tgtEl>
                                          <p:spTgt spid="50"/>
                                        </p:tgtEl>
                                        <p:attrNameLst>
                                          <p:attrName>style.visibility</p:attrName>
                                        </p:attrNameLst>
                                      </p:cBhvr>
                                      <p:to>
                                        <p:strVal val="visible"/>
                                      </p:to>
                                    </p:set>
                                  </p:childTnLst>
                                </p:cTn>
                              </p:par>
                              <p:par>
                                <p:cTn id="11" presetID="1" presetClass="entr" presetSubtype="0" fill="hold" grpId="0" nodeType="withEffect">
                                  <p:stCondLst>
                                    <p:cond delay="1000"/>
                                  </p:stCondLst>
                                  <p:childTnLst>
                                    <p:set>
                                      <p:cBhvr>
                                        <p:cTn id="12" dur="1" fill="hold">
                                          <p:stCondLst>
                                            <p:cond delay="999"/>
                                          </p:stCondLst>
                                        </p:cTn>
                                        <p:tgtEl>
                                          <p:spTgt spid="51"/>
                                        </p:tgtEl>
                                        <p:attrNameLst>
                                          <p:attrName>style.visibility</p:attrName>
                                        </p:attrNameLst>
                                      </p:cBhvr>
                                      <p:to>
                                        <p:strVal val="visible"/>
                                      </p:to>
                                    </p:set>
                                  </p:childTnLst>
                                </p:cTn>
                              </p:par>
                              <p:par>
                                <p:cTn id="13" presetID="1" presetClass="entr" presetSubtype="0" fill="hold" grpId="0" nodeType="withEffect">
                                  <p:stCondLst>
                                    <p:cond delay="1000"/>
                                  </p:stCondLst>
                                  <p:childTnLst>
                                    <p:set>
                                      <p:cBhvr>
                                        <p:cTn id="14" dur="1" fill="hold">
                                          <p:stCondLst>
                                            <p:cond delay="999"/>
                                          </p:stCondLst>
                                        </p:cTn>
                                        <p:tgtEl>
                                          <p:spTgt spid="43"/>
                                        </p:tgtEl>
                                        <p:attrNameLst>
                                          <p:attrName>style.visibility</p:attrName>
                                        </p:attrNameLst>
                                      </p:cBhvr>
                                      <p:to>
                                        <p:strVal val="visible"/>
                                      </p:to>
                                    </p:set>
                                  </p:childTnLst>
                                </p:cTn>
                              </p:par>
                              <p:par>
                                <p:cTn id="15" presetID="1" presetClass="entr" presetSubtype="0" fill="hold" grpId="0" nodeType="withEffect">
                                  <p:stCondLst>
                                    <p:cond delay="1000"/>
                                  </p:stCondLst>
                                  <p:childTnLst>
                                    <p:set>
                                      <p:cBhvr>
                                        <p:cTn id="16" dur="1" fill="hold">
                                          <p:stCondLst>
                                            <p:cond delay="999"/>
                                          </p:stCondLst>
                                        </p:cTn>
                                        <p:tgtEl>
                                          <p:spTgt spid="42"/>
                                        </p:tgtEl>
                                        <p:attrNameLst>
                                          <p:attrName>style.visibility</p:attrName>
                                        </p:attrNameLst>
                                      </p:cBhvr>
                                      <p:to>
                                        <p:strVal val="visible"/>
                                      </p:to>
                                    </p:set>
                                  </p:childTnLst>
                                </p:cTn>
                              </p:par>
                              <p:par>
                                <p:cTn id="17" presetID="1" presetClass="entr" presetSubtype="0" fill="hold" grpId="0" nodeType="withEffect">
                                  <p:stCondLst>
                                    <p:cond delay="2000"/>
                                  </p:stCondLst>
                                  <p:childTnLst>
                                    <p:set>
                                      <p:cBhvr>
                                        <p:cTn id="18" dur="1" fill="hold">
                                          <p:stCondLst>
                                            <p:cond delay="999"/>
                                          </p:stCondLst>
                                        </p:cTn>
                                        <p:tgtEl>
                                          <p:spTgt spid="67"/>
                                        </p:tgtEl>
                                        <p:attrNameLst>
                                          <p:attrName>style.visibility</p:attrName>
                                        </p:attrNameLst>
                                      </p:cBhvr>
                                      <p:to>
                                        <p:strVal val="visible"/>
                                      </p:to>
                                    </p:set>
                                  </p:childTnLst>
                                </p:cTn>
                              </p:par>
                              <p:par>
                                <p:cTn id="19" presetID="1" presetClass="entr" presetSubtype="0" fill="hold" grpId="0" nodeType="withEffect">
                                  <p:stCondLst>
                                    <p:cond delay="2000"/>
                                  </p:stCondLst>
                                  <p:childTnLst>
                                    <p:set>
                                      <p:cBhvr>
                                        <p:cTn id="20" dur="1" fill="hold">
                                          <p:stCondLst>
                                            <p:cond delay="999"/>
                                          </p:stCondLst>
                                        </p:cTn>
                                        <p:tgtEl>
                                          <p:spTgt spid="71"/>
                                        </p:tgtEl>
                                        <p:attrNameLst>
                                          <p:attrName>style.visibility</p:attrName>
                                        </p:attrNameLst>
                                      </p:cBhvr>
                                      <p:to>
                                        <p:strVal val="visible"/>
                                      </p:to>
                                    </p:set>
                                  </p:childTnLst>
                                </p:cTn>
                              </p:par>
                              <p:par>
                                <p:cTn id="21" presetID="1" presetClass="entr" presetSubtype="0" fill="hold" grpId="0" nodeType="withEffect">
                                  <p:stCondLst>
                                    <p:cond delay="2000"/>
                                  </p:stCondLst>
                                  <p:childTnLst>
                                    <p:set>
                                      <p:cBhvr>
                                        <p:cTn id="22" dur="1" fill="hold">
                                          <p:stCondLst>
                                            <p:cond delay="999"/>
                                          </p:stCondLst>
                                        </p:cTn>
                                        <p:tgtEl>
                                          <p:spTgt spid="70"/>
                                        </p:tgtEl>
                                        <p:attrNameLst>
                                          <p:attrName>style.visibility</p:attrName>
                                        </p:attrNameLst>
                                      </p:cBhvr>
                                      <p:to>
                                        <p:strVal val="visible"/>
                                      </p:to>
                                    </p:set>
                                  </p:childTnLst>
                                </p:cTn>
                              </p:par>
                              <p:par>
                                <p:cTn id="23" presetID="1" presetClass="entr" presetSubtype="0" fill="hold" grpId="0" nodeType="withEffect">
                                  <p:stCondLst>
                                    <p:cond delay="2000"/>
                                  </p:stCondLst>
                                  <p:childTnLst>
                                    <p:set>
                                      <p:cBhvr>
                                        <p:cTn id="24" dur="1" fill="hold">
                                          <p:stCondLst>
                                            <p:cond delay="999"/>
                                          </p:stCondLst>
                                        </p:cTn>
                                        <p:tgtEl>
                                          <p:spTgt spid="69"/>
                                        </p:tgtEl>
                                        <p:attrNameLst>
                                          <p:attrName>style.visibility</p:attrName>
                                        </p:attrNameLst>
                                      </p:cBhvr>
                                      <p:to>
                                        <p:strVal val="visible"/>
                                      </p:to>
                                    </p:set>
                                  </p:childTnLst>
                                </p:cTn>
                              </p:par>
                              <p:par>
                                <p:cTn id="25" presetID="1" presetClass="entr" presetSubtype="0" fill="hold" grpId="0" nodeType="withEffect">
                                  <p:stCondLst>
                                    <p:cond delay="2000"/>
                                  </p:stCondLst>
                                  <p:childTnLst>
                                    <p:set>
                                      <p:cBhvr>
                                        <p:cTn id="26" dur="1" fill="hold">
                                          <p:stCondLst>
                                            <p:cond delay="999"/>
                                          </p:stCondLst>
                                        </p:cTn>
                                        <p:tgtEl>
                                          <p:spTgt spid="73"/>
                                        </p:tgtEl>
                                        <p:attrNameLst>
                                          <p:attrName>style.visibility</p:attrName>
                                        </p:attrNameLst>
                                      </p:cBhvr>
                                      <p:to>
                                        <p:strVal val="visible"/>
                                      </p:to>
                                    </p:set>
                                  </p:childTnLst>
                                </p:cTn>
                              </p:par>
                              <p:par>
                                <p:cTn id="27" presetID="1" presetClass="entr" presetSubtype="0" fill="hold" grpId="0" nodeType="withEffect">
                                  <p:stCondLst>
                                    <p:cond delay="3000"/>
                                  </p:stCondLst>
                                  <p:childTnLst>
                                    <p:set>
                                      <p:cBhvr>
                                        <p:cTn id="28" dur="1" fill="hold">
                                          <p:stCondLst>
                                            <p:cond delay="999"/>
                                          </p:stCondLst>
                                        </p:cTn>
                                        <p:tgtEl>
                                          <p:spTgt spid="74"/>
                                        </p:tgtEl>
                                        <p:attrNameLst>
                                          <p:attrName>style.visibility</p:attrName>
                                        </p:attrNameLst>
                                      </p:cBhvr>
                                      <p:to>
                                        <p:strVal val="visible"/>
                                      </p:to>
                                    </p:set>
                                  </p:childTnLst>
                                </p:cTn>
                              </p:par>
                              <p:par>
                                <p:cTn id="29" presetID="1" presetClass="entr" presetSubtype="0" fill="hold" nodeType="withEffect">
                                  <p:stCondLst>
                                    <p:cond delay="3000"/>
                                  </p:stCondLst>
                                  <p:childTnLst>
                                    <p:set>
                                      <p:cBhvr>
                                        <p:cTn id="30" dur="1" fill="hold">
                                          <p:stCondLst>
                                            <p:cond delay="999"/>
                                          </p:stCondLst>
                                        </p:cTn>
                                        <p:tgtEl>
                                          <p:spTgt spid="75"/>
                                        </p:tgtEl>
                                        <p:attrNameLst>
                                          <p:attrName>style.visibility</p:attrName>
                                        </p:attrNameLst>
                                      </p:cBhvr>
                                      <p:to>
                                        <p:strVal val="visible"/>
                                      </p:to>
                                    </p:set>
                                  </p:childTnLst>
                                </p:cTn>
                              </p:par>
                              <p:par>
                                <p:cTn id="31" presetID="1" presetClass="entr" presetSubtype="0" fill="hold" grpId="0" nodeType="withEffect">
                                  <p:stCondLst>
                                    <p:cond delay="3000"/>
                                  </p:stCondLst>
                                  <p:childTnLst>
                                    <p:set>
                                      <p:cBhvr>
                                        <p:cTn id="32" dur="1" fill="hold">
                                          <p:stCondLst>
                                            <p:cond delay="999"/>
                                          </p:stCondLst>
                                        </p:cTn>
                                        <p:tgtEl>
                                          <p:spTgt spid="76"/>
                                        </p:tgtEl>
                                        <p:attrNameLst>
                                          <p:attrName>style.visibility</p:attrName>
                                        </p:attrNameLst>
                                      </p:cBhvr>
                                      <p:to>
                                        <p:strVal val="visible"/>
                                      </p:to>
                                    </p:set>
                                  </p:childTnLst>
                                </p:cTn>
                              </p:par>
                              <p:par>
                                <p:cTn id="33" presetID="1" presetClass="entr" presetSubtype="0" fill="hold" grpId="0" nodeType="withEffect">
                                  <p:stCondLst>
                                    <p:cond delay="4000"/>
                                  </p:stCondLst>
                                  <p:childTnLst>
                                    <p:set>
                                      <p:cBhvr>
                                        <p:cTn id="34" dur="1" fill="hold">
                                          <p:stCondLst>
                                            <p:cond delay="999"/>
                                          </p:stCondLst>
                                        </p:cTn>
                                        <p:tgtEl>
                                          <p:spTgt spid="79"/>
                                        </p:tgtEl>
                                        <p:attrNameLst>
                                          <p:attrName>style.visibility</p:attrName>
                                        </p:attrNameLst>
                                      </p:cBhvr>
                                      <p:to>
                                        <p:strVal val="visible"/>
                                      </p:to>
                                    </p:set>
                                  </p:childTnLst>
                                </p:cTn>
                              </p:par>
                              <p:par>
                                <p:cTn id="35" presetID="1" presetClass="entr" presetSubtype="0" fill="hold" nodeType="withEffect">
                                  <p:stCondLst>
                                    <p:cond delay="4000"/>
                                  </p:stCondLst>
                                  <p:childTnLst>
                                    <p:set>
                                      <p:cBhvr>
                                        <p:cTn id="36" dur="1" fill="hold">
                                          <p:stCondLst>
                                            <p:cond delay="999"/>
                                          </p:stCondLst>
                                        </p:cTn>
                                        <p:tgtEl>
                                          <p:spTgt spid="77"/>
                                        </p:tgtEl>
                                        <p:attrNameLst>
                                          <p:attrName>style.visibility</p:attrName>
                                        </p:attrNameLst>
                                      </p:cBhvr>
                                      <p:to>
                                        <p:strVal val="visible"/>
                                      </p:to>
                                    </p:set>
                                  </p:childTnLst>
                                </p:cTn>
                              </p:par>
                              <p:par>
                                <p:cTn id="37" presetID="1" presetClass="entr" presetSubtype="0" fill="hold" grpId="0" nodeType="withEffect">
                                  <p:stCondLst>
                                    <p:cond delay="4000"/>
                                  </p:stCondLst>
                                  <p:childTnLst>
                                    <p:set>
                                      <p:cBhvr>
                                        <p:cTn id="38" dur="1" fill="hold">
                                          <p:stCondLst>
                                            <p:cond delay="999"/>
                                          </p:stCondLst>
                                        </p:cTn>
                                        <p:tgtEl>
                                          <p:spTgt spid="78"/>
                                        </p:tgtEl>
                                        <p:attrNameLst>
                                          <p:attrName>style.visibility</p:attrName>
                                        </p:attrNameLst>
                                      </p:cBhvr>
                                      <p:to>
                                        <p:strVal val="visible"/>
                                      </p:to>
                                    </p:set>
                                  </p:childTnLst>
                                </p:cTn>
                              </p:par>
                              <p:par>
                                <p:cTn id="39" presetID="1" presetClass="entr" presetSubtype="0" fill="hold" grpId="0" nodeType="withEffect">
                                  <p:stCondLst>
                                    <p:cond delay="5000"/>
                                  </p:stCondLst>
                                  <p:childTnLst>
                                    <p:set>
                                      <p:cBhvr>
                                        <p:cTn id="40" dur="1" fill="hold">
                                          <p:stCondLst>
                                            <p:cond delay="999"/>
                                          </p:stCondLst>
                                        </p:cTn>
                                        <p:tgtEl>
                                          <p:spTgt spid="83"/>
                                        </p:tgtEl>
                                        <p:attrNameLst>
                                          <p:attrName>style.visibility</p:attrName>
                                        </p:attrNameLst>
                                      </p:cBhvr>
                                      <p:to>
                                        <p:strVal val="visible"/>
                                      </p:to>
                                    </p:set>
                                  </p:childTnLst>
                                </p:cTn>
                              </p:par>
                              <p:par>
                                <p:cTn id="41" presetID="1" presetClass="entr" presetSubtype="0" fill="hold" nodeType="withEffect">
                                  <p:stCondLst>
                                    <p:cond delay="5000"/>
                                  </p:stCondLst>
                                  <p:childTnLst>
                                    <p:set>
                                      <p:cBhvr>
                                        <p:cTn id="42" dur="1" fill="hold">
                                          <p:stCondLst>
                                            <p:cond delay="999"/>
                                          </p:stCondLst>
                                        </p:cTn>
                                        <p:tgtEl>
                                          <p:spTgt spid="81"/>
                                        </p:tgtEl>
                                        <p:attrNameLst>
                                          <p:attrName>style.visibility</p:attrName>
                                        </p:attrNameLst>
                                      </p:cBhvr>
                                      <p:to>
                                        <p:strVal val="visible"/>
                                      </p:to>
                                    </p:set>
                                  </p:childTnLst>
                                </p:cTn>
                              </p:par>
                              <p:par>
                                <p:cTn id="43" presetID="1" presetClass="entr" presetSubtype="0" fill="hold" grpId="0" nodeType="withEffect">
                                  <p:stCondLst>
                                    <p:cond delay="5000"/>
                                  </p:stCondLst>
                                  <p:childTnLst>
                                    <p:set>
                                      <p:cBhvr>
                                        <p:cTn id="44" dur="1" fill="hold">
                                          <p:stCondLst>
                                            <p:cond delay="999"/>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6" grpId="0"/>
      <p:bldP spid="51" grpId="0"/>
      <p:bldP spid="67" grpId="0" animBg="1"/>
      <p:bldP spid="69" grpId="0" animBg="1"/>
      <p:bldP spid="70" grpId="0" animBg="1"/>
      <p:bldP spid="71" grpId="0" animBg="1"/>
      <p:bldP spid="73" grpId="0"/>
      <p:bldP spid="74" grpId="0" animBg="1"/>
      <p:bldP spid="76" grpId="0"/>
      <p:bldP spid="78" grpId="0"/>
      <p:bldP spid="79" grpId="0" animBg="1"/>
      <p:bldP spid="82" grpId="0"/>
      <p:bldP spid="8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24178-9422-8235-3ABC-96D96467019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4185D36-403D-D47E-C574-5092097B1F0E}"/>
              </a:ext>
            </a:extLst>
          </p:cNvPr>
          <p:cNvSpPr>
            <a:spLocks noGrp="1"/>
          </p:cNvSpPr>
          <p:nvPr>
            <p:ph type="title"/>
          </p:nvPr>
        </p:nvSpPr>
        <p:spPr/>
        <p:txBody>
          <a:bodyPr/>
          <a:lstStyle/>
          <a:p>
            <a:r>
              <a:rPr lang="ja-JP" altLang="en-US" dirty="0"/>
              <a:t>低電圧（</a:t>
            </a:r>
            <a:r>
              <a:rPr lang="en-US" altLang="ja-JP" dirty="0"/>
              <a:t>UV</a:t>
            </a:r>
            <a:r>
              <a:rPr lang="ja-JP" altLang="en-US" dirty="0"/>
              <a:t>）時の動作</a:t>
            </a:r>
            <a:endParaRPr kumimoji="1" lang="ja-JP" altLang="en-US" dirty="0"/>
          </a:p>
        </p:txBody>
      </p:sp>
      <p:pic>
        <p:nvPicPr>
          <p:cNvPr id="9" name="Picture 93">
            <a:extLst>
              <a:ext uri="{FF2B5EF4-FFF2-40B4-BE49-F238E27FC236}">
                <a16:creationId xmlns:a16="http://schemas.microsoft.com/office/drawing/2014/main" id="{981B2501-6342-A71D-DAA2-0FD18DCD1651}"/>
              </a:ext>
            </a:extLst>
          </p:cNvPr>
          <p:cNvPicPr>
            <a:picLocks noChangeAspect="1"/>
          </p:cNvPicPr>
          <p:nvPr/>
        </p:nvPicPr>
        <p:blipFill>
          <a:blip r:embed="rId2"/>
          <a:stretch>
            <a:fillRect/>
          </a:stretch>
        </p:blipFill>
        <p:spPr>
          <a:xfrm>
            <a:off x="2261446" y="1882170"/>
            <a:ext cx="7730067" cy="4441375"/>
          </a:xfrm>
          <a:prstGeom prst="rect">
            <a:avLst/>
          </a:prstGeom>
        </p:spPr>
      </p:pic>
      <p:sp>
        <p:nvSpPr>
          <p:cNvPr id="10" name="Text Box 19">
            <a:extLst>
              <a:ext uri="{FF2B5EF4-FFF2-40B4-BE49-F238E27FC236}">
                <a16:creationId xmlns:a16="http://schemas.microsoft.com/office/drawing/2014/main" id="{B32F5AD4-3692-86D4-3D08-DF5867EE1359}"/>
              </a:ext>
            </a:extLst>
          </p:cNvPr>
          <p:cNvSpPr txBox="1"/>
          <p:nvPr/>
        </p:nvSpPr>
        <p:spPr>
          <a:xfrm>
            <a:off x="4449710" y="6323545"/>
            <a:ext cx="4433033" cy="461665"/>
          </a:xfrm>
          <a:prstGeom prst="rect">
            <a:avLst/>
          </a:prstGeom>
          <a:noFill/>
        </p:spPr>
        <p:txBody>
          <a:bodyPr wrap="square" rtlCol="0" anchor="t">
            <a:spAutoFit/>
          </a:bodyPr>
          <a:lstStyle/>
          <a:p>
            <a:r>
              <a:rPr lang="x-none" sz="2400" dirty="0"/>
              <a:t>(a) 通常動作 (b) UV動作</a:t>
            </a:r>
            <a:endParaRPr lang="x-none" sz="2400" dirty="0">
              <a:latin typeface="东文宋体" charset="0"/>
              <a:cs typeface="东文宋体" charset="0"/>
            </a:endParaRPr>
          </a:p>
        </p:txBody>
      </p:sp>
      <p:sp>
        <p:nvSpPr>
          <p:cNvPr id="3" name="Slide Number Placeholder 2">
            <a:extLst>
              <a:ext uri="{FF2B5EF4-FFF2-40B4-BE49-F238E27FC236}">
                <a16:creationId xmlns:a16="http://schemas.microsoft.com/office/drawing/2014/main" id="{0ED503C8-66AA-DEE1-6C4D-1A8398FAC61F}"/>
              </a:ext>
            </a:extLst>
          </p:cNvPr>
          <p:cNvSpPr>
            <a:spLocks noGrp="1"/>
          </p:cNvSpPr>
          <p:nvPr>
            <p:ph type="sldNum" sz="quarter" idx="12"/>
          </p:nvPr>
        </p:nvSpPr>
        <p:spPr/>
        <p:txBody>
          <a:bodyPr/>
          <a:lstStyle/>
          <a:p>
            <a:fld id="{6056A974-1F10-4C20-85B8-C700D90E4AC4}" type="slidenum">
              <a:rPr kumimoji="1" lang="ja-JP" altLang="en-US" smtClean="0"/>
              <a:t>7</a:t>
            </a:fld>
            <a:endParaRPr kumimoji="1" lang="ja-JP" altLang="en-US"/>
          </a:p>
        </p:txBody>
      </p:sp>
      <p:pic>
        <p:nvPicPr>
          <p:cNvPr id="5" name="Picture 4" descr="A qr code with a logo&#10;&#10;AI-generated content may be incorrect.">
            <a:extLst>
              <a:ext uri="{FF2B5EF4-FFF2-40B4-BE49-F238E27FC236}">
                <a16:creationId xmlns:a16="http://schemas.microsoft.com/office/drawing/2014/main" id="{C0C6C75C-2D65-EE7B-4AE6-286B86B1A9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0782" y="216848"/>
            <a:ext cx="1266160" cy="1266160"/>
          </a:xfrm>
          <a:prstGeom prst="rect">
            <a:avLst/>
          </a:prstGeom>
        </p:spPr>
      </p:pic>
    </p:spTree>
    <p:extLst>
      <p:ext uri="{BB962C8B-B14F-4D97-AF65-F5344CB8AC3E}">
        <p14:creationId xmlns:p14="http://schemas.microsoft.com/office/powerpoint/2010/main" val="4042864771"/>
      </p:ext>
    </p:extLst>
  </p:cSld>
  <p:clrMapOvr>
    <a:masterClrMapping/>
  </p:clrMapOvr>
  <mc:AlternateContent xmlns:mc="http://schemas.openxmlformats.org/markup-compatibility/2006" xmlns:p14="http://schemas.microsoft.com/office/powerpoint/2010/main">
    <mc:Choice Requires="p14">
      <p:transition p14:dur="10" advClick="0" advTm="20000"/>
    </mc:Choice>
    <mc:Fallback xmlns="">
      <p:transition advClick="0" advTm="20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39F8A-FD59-D65A-4424-CB552B8692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6CE10A0-7CED-4439-9DBA-86647833E348}"/>
              </a:ext>
            </a:extLst>
          </p:cNvPr>
          <p:cNvSpPr>
            <a:spLocks noGrp="1"/>
          </p:cNvSpPr>
          <p:nvPr>
            <p:ph type="title"/>
          </p:nvPr>
        </p:nvSpPr>
        <p:spPr/>
        <p:txBody>
          <a:bodyPr/>
          <a:lstStyle/>
          <a:p>
            <a:r>
              <a:rPr lang="ja-JP" altLang="en-US" dirty="0"/>
              <a:t>パワーゲーティング（</a:t>
            </a:r>
            <a:r>
              <a:rPr lang="en-US" altLang="ja-JP" dirty="0"/>
              <a:t>PG+UV)</a:t>
            </a:r>
            <a:r>
              <a:rPr lang="ja-JP" altLang="en-US" dirty="0"/>
              <a:t>時の動作</a:t>
            </a:r>
            <a:endParaRPr kumimoji="1" lang="ja-JP" altLang="en-US" dirty="0"/>
          </a:p>
        </p:txBody>
      </p:sp>
      <p:pic>
        <p:nvPicPr>
          <p:cNvPr id="6" name="Picture 98">
            <a:extLst>
              <a:ext uri="{FF2B5EF4-FFF2-40B4-BE49-F238E27FC236}">
                <a16:creationId xmlns:a16="http://schemas.microsoft.com/office/drawing/2014/main" id="{06B679A7-693A-93AC-F76D-7D4162724274}"/>
              </a:ext>
            </a:extLst>
          </p:cNvPr>
          <p:cNvPicPr preferRelativeResize="0">
            <a:picLocks/>
          </p:cNvPicPr>
          <p:nvPr/>
        </p:nvPicPr>
        <p:blipFill>
          <a:blip r:embed="rId2"/>
          <a:stretch>
            <a:fillRect/>
          </a:stretch>
        </p:blipFill>
        <p:spPr>
          <a:xfrm>
            <a:off x="2260800" y="1882800"/>
            <a:ext cx="7729200" cy="4442400"/>
          </a:xfrm>
          <a:prstGeom prst="rect">
            <a:avLst/>
          </a:prstGeom>
        </p:spPr>
      </p:pic>
      <p:sp>
        <p:nvSpPr>
          <p:cNvPr id="7" name="Text Box 19">
            <a:extLst>
              <a:ext uri="{FF2B5EF4-FFF2-40B4-BE49-F238E27FC236}">
                <a16:creationId xmlns:a16="http://schemas.microsoft.com/office/drawing/2014/main" id="{E75A0FB2-FEE1-15B9-96F0-1BDC9DD36F10}"/>
              </a:ext>
            </a:extLst>
          </p:cNvPr>
          <p:cNvSpPr txBox="1"/>
          <p:nvPr/>
        </p:nvSpPr>
        <p:spPr>
          <a:xfrm>
            <a:off x="4449710" y="6323545"/>
            <a:ext cx="4433033" cy="461665"/>
          </a:xfrm>
          <a:prstGeom prst="rect">
            <a:avLst/>
          </a:prstGeom>
          <a:noFill/>
        </p:spPr>
        <p:txBody>
          <a:bodyPr wrap="square" rtlCol="0" anchor="t">
            <a:spAutoFit/>
          </a:bodyPr>
          <a:lstStyle/>
          <a:p>
            <a:r>
              <a:rPr lang="x-none" sz="2400" dirty="0"/>
              <a:t>(a) </a:t>
            </a:r>
            <a:r>
              <a:rPr lang="en-US" sz="2400" dirty="0"/>
              <a:t>PG</a:t>
            </a:r>
            <a:r>
              <a:rPr lang="ja-JP" altLang="en-US" sz="2400" dirty="0"/>
              <a:t>動作</a:t>
            </a:r>
            <a:r>
              <a:rPr lang="x-none" sz="2400" dirty="0"/>
              <a:t> (b) </a:t>
            </a:r>
            <a:r>
              <a:rPr lang="en-US" sz="2400" dirty="0"/>
              <a:t>UV&amp;PG</a:t>
            </a:r>
            <a:r>
              <a:rPr lang="x-none" sz="2400" dirty="0"/>
              <a:t>動作</a:t>
            </a:r>
            <a:endParaRPr lang="x-none" sz="2400" dirty="0">
              <a:latin typeface="东文宋体" charset="0"/>
              <a:cs typeface="东文宋体" charset="0"/>
            </a:endParaRPr>
          </a:p>
        </p:txBody>
      </p:sp>
      <p:sp>
        <p:nvSpPr>
          <p:cNvPr id="3" name="Slide Number Placeholder 2">
            <a:extLst>
              <a:ext uri="{FF2B5EF4-FFF2-40B4-BE49-F238E27FC236}">
                <a16:creationId xmlns:a16="http://schemas.microsoft.com/office/drawing/2014/main" id="{2DB3C007-A6B5-6427-7B4E-86BB12EA9118}"/>
              </a:ext>
            </a:extLst>
          </p:cNvPr>
          <p:cNvSpPr>
            <a:spLocks noGrp="1"/>
          </p:cNvSpPr>
          <p:nvPr>
            <p:ph type="sldNum" sz="quarter" idx="12"/>
          </p:nvPr>
        </p:nvSpPr>
        <p:spPr/>
        <p:txBody>
          <a:bodyPr/>
          <a:lstStyle/>
          <a:p>
            <a:fld id="{6056A974-1F10-4C20-85B8-C700D90E4AC4}" type="slidenum">
              <a:rPr kumimoji="1" lang="ja-JP" altLang="en-US" smtClean="0"/>
              <a:t>8</a:t>
            </a:fld>
            <a:endParaRPr kumimoji="1" lang="ja-JP" altLang="en-US"/>
          </a:p>
        </p:txBody>
      </p:sp>
      <p:pic>
        <p:nvPicPr>
          <p:cNvPr id="5" name="Picture 4" descr="A qr code with a logo&#10;&#10;AI-generated content may be incorrect.">
            <a:extLst>
              <a:ext uri="{FF2B5EF4-FFF2-40B4-BE49-F238E27FC236}">
                <a16:creationId xmlns:a16="http://schemas.microsoft.com/office/drawing/2014/main" id="{917E625F-492B-113D-4A96-A0C1B16155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0782" y="216848"/>
            <a:ext cx="1266160" cy="1266160"/>
          </a:xfrm>
          <a:prstGeom prst="rect">
            <a:avLst/>
          </a:prstGeom>
        </p:spPr>
      </p:pic>
    </p:spTree>
    <p:extLst>
      <p:ext uri="{BB962C8B-B14F-4D97-AF65-F5344CB8AC3E}">
        <p14:creationId xmlns:p14="http://schemas.microsoft.com/office/powerpoint/2010/main" val="1405420995"/>
      </p:ext>
    </p:extLst>
  </p:cSld>
  <p:clrMapOvr>
    <a:masterClrMapping/>
  </p:clrMapOvr>
  <mc:AlternateContent xmlns:mc="http://schemas.openxmlformats.org/markup-compatibility/2006" xmlns:p14="http://schemas.microsoft.com/office/powerpoint/2010/main">
    <mc:Choice Requires="p14">
      <p:transition p14:dur="10" advClick="0" advTm="20000"/>
    </mc:Choice>
    <mc:Fallback xmlns="">
      <p:transition advClick="0" advTm="20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32DA9-19C5-1051-7CB2-DB431C2332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43707E-F5C4-8208-0BBD-2A0D716DF941}"/>
              </a:ext>
            </a:extLst>
          </p:cNvPr>
          <p:cNvSpPr>
            <a:spLocks noGrp="1"/>
          </p:cNvSpPr>
          <p:nvPr>
            <p:ph type="title"/>
          </p:nvPr>
        </p:nvSpPr>
        <p:spPr/>
        <p:txBody>
          <a:bodyPr/>
          <a:lstStyle/>
          <a:p>
            <a:r>
              <a:rPr lang="ja-JP" altLang="en-US" dirty="0"/>
              <a:t>実験結果：精度、電圧、ビットエラー率</a:t>
            </a:r>
            <a:endParaRPr kumimoji="1" lang="ja-JP" altLang="en-US" dirty="0"/>
          </a:p>
        </p:txBody>
      </p:sp>
      <p:pic>
        <p:nvPicPr>
          <p:cNvPr id="6" name="Picture 141">
            <a:extLst>
              <a:ext uri="{FF2B5EF4-FFF2-40B4-BE49-F238E27FC236}">
                <a16:creationId xmlns:a16="http://schemas.microsoft.com/office/drawing/2014/main" id="{C9B9F3D8-5B40-3AE1-F1F6-1779CB4FFBA6}"/>
              </a:ext>
            </a:extLst>
          </p:cNvPr>
          <p:cNvPicPr>
            <a:picLocks noChangeAspect="1"/>
          </p:cNvPicPr>
          <p:nvPr/>
        </p:nvPicPr>
        <p:blipFill>
          <a:blip r:embed="rId2"/>
          <a:stretch>
            <a:fillRect/>
          </a:stretch>
        </p:blipFill>
        <p:spPr>
          <a:xfrm>
            <a:off x="1847602" y="1793795"/>
            <a:ext cx="8510649" cy="4244305"/>
          </a:xfrm>
          <a:prstGeom prst="rect">
            <a:avLst/>
          </a:prstGeom>
        </p:spPr>
      </p:pic>
      <p:sp>
        <p:nvSpPr>
          <p:cNvPr id="7" name="Text Box 21">
            <a:extLst>
              <a:ext uri="{FF2B5EF4-FFF2-40B4-BE49-F238E27FC236}">
                <a16:creationId xmlns:a16="http://schemas.microsoft.com/office/drawing/2014/main" id="{B5498955-8420-B856-904B-9FC95BA50004}"/>
              </a:ext>
            </a:extLst>
          </p:cNvPr>
          <p:cNvSpPr txBox="1"/>
          <p:nvPr/>
        </p:nvSpPr>
        <p:spPr>
          <a:xfrm>
            <a:off x="3043954" y="6253877"/>
            <a:ext cx="6500495" cy="461665"/>
          </a:xfrm>
          <a:prstGeom prst="rect">
            <a:avLst/>
          </a:prstGeom>
          <a:noFill/>
        </p:spPr>
        <p:txBody>
          <a:bodyPr wrap="square" rtlCol="0" anchor="t">
            <a:spAutoFit/>
          </a:bodyPr>
          <a:lstStyle/>
          <a:p>
            <a:r>
              <a:rPr lang="x-none" sz="2400" dirty="0"/>
              <a:t>(a) 精度 (b) 消費エネルギー (c) ビットエラー率</a:t>
            </a:r>
          </a:p>
        </p:txBody>
      </p:sp>
      <p:sp>
        <p:nvSpPr>
          <p:cNvPr id="3" name="Slide Number Placeholder 2">
            <a:extLst>
              <a:ext uri="{FF2B5EF4-FFF2-40B4-BE49-F238E27FC236}">
                <a16:creationId xmlns:a16="http://schemas.microsoft.com/office/drawing/2014/main" id="{1C2D6FEF-5EE7-5E9D-8E44-227595C72A08}"/>
              </a:ext>
            </a:extLst>
          </p:cNvPr>
          <p:cNvSpPr>
            <a:spLocks noGrp="1"/>
          </p:cNvSpPr>
          <p:nvPr>
            <p:ph type="sldNum" sz="quarter" idx="12"/>
          </p:nvPr>
        </p:nvSpPr>
        <p:spPr/>
        <p:txBody>
          <a:bodyPr/>
          <a:lstStyle/>
          <a:p>
            <a:fld id="{6056A974-1F10-4C20-85B8-C700D90E4AC4}" type="slidenum">
              <a:rPr kumimoji="1" lang="ja-JP" altLang="en-US" smtClean="0"/>
              <a:t>9</a:t>
            </a:fld>
            <a:endParaRPr kumimoji="1" lang="ja-JP" altLang="en-US"/>
          </a:p>
        </p:txBody>
      </p:sp>
      <p:pic>
        <p:nvPicPr>
          <p:cNvPr id="5" name="Picture 4" descr="A qr code with a logo&#10;&#10;AI-generated content may be incorrect.">
            <a:extLst>
              <a:ext uri="{FF2B5EF4-FFF2-40B4-BE49-F238E27FC236}">
                <a16:creationId xmlns:a16="http://schemas.microsoft.com/office/drawing/2014/main" id="{56319DDD-B6C6-25BD-800F-7837318ABC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0782" y="216848"/>
            <a:ext cx="1266160" cy="1266160"/>
          </a:xfrm>
          <a:prstGeom prst="rect">
            <a:avLst/>
          </a:prstGeom>
        </p:spPr>
      </p:pic>
    </p:spTree>
    <p:extLst>
      <p:ext uri="{BB962C8B-B14F-4D97-AF65-F5344CB8AC3E}">
        <p14:creationId xmlns:p14="http://schemas.microsoft.com/office/powerpoint/2010/main" val="3853167379"/>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5DB21-9AB9-73FB-7734-A61733DFD0E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71F6E63-669E-EB7D-E8EE-0900145F7824}"/>
              </a:ext>
            </a:extLst>
          </p:cNvPr>
          <p:cNvSpPr>
            <a:spLocks noGrp="1"/>
          </p:cNvSpPr>
          <p:nvPr>
            <p:ph type="title"/>
          </p:nvPr>
        </p:nvSpPr>
        <p:spPr/>
        <p:txBody>
          <a:bodyPr/>
          <a:lstStyle/>
          <a:p>
            <a:r>
              <a:rPr lang="ja-JP" altLang="en-US" dirty="0"/>
              <a:t>実験結果：精度</a:t>
            </a:r>
            <a:r>
              <a:rPr lang="en-US" altLang="ja-JP" dirty="0"/>
              <a:t>vs</a:t>
            </a:r>
            <a:r>
              <a:rPr lang="ja-JP" altLang="en-US" dirty="0"/>
              <a:t>電力</a:t>
            </a:r>
            <a:endParaRPr kumimoji="1" lang="ja-JP" altLang="en-US" dirty="0"/>
          </a:p>
        </p:txBody>
      </p:sp>
      <p:sp>
        <p:nvSpPr>
          <p:cNvPr id="7" name="Text Box 21">
            <a:extLst>
              <a:ext uri="{FF2B5EF4-FFF2-40B4-BE49-F238E27FC236}">
                <a16:creationId xmlns:a16="http://schemas.microsoft.com/office/drawing/2014/main" id="{716D28D9-26F8-80EC-A56E-72DE6FD928FF}"/>
              </a:ext>
            </a:extLst>
          </p:cNvPr>
          <p:cNvSpPr txBox="1"/>
          <p:nvPr/>
        </p:nvSpPr>
        <p:spPr>
          <a:xfrm>
            <a:off x="2930691" y="6251040"/>
            <a:ext cx="6731417" cy="461665"/>
          </a:xfrm>
          <a:prstGeom prst="rect">
            <a:avLst/>
          </a:prstGeom>
          <a:noFill/>
        </p:spPr>
        <p:txBody>
          <a:bodyPr wrap="square" rtlCol="0" anchor="t">
            <a:spAutoFit/>
          </a:bodyPr>
          <a:lstStyle/>
          <a:p>
            <a:r>
              <a:rPr lang="x-none" altLang="ja-JP" sz="2400" dirty="0"/>
              <a:t>(a) UV 2層 (b) PG 1層 &amp; UV 2層 (c) PG 2層 &amp; UV 2層</a:t>
            </a:r>
          </a:p>
        </p:txBody>
      </p:sp>
      <p:pic>
        <p:nvPicPr>
          <p:cNvPr id="3" name="Picture 142">
            <a:extLst>
              <a:ext uri="{FF2B5EF4-FFF2-40B4-BE49-F238E27FC236}">
                <a16:creationId xmlns:a16="http://schemas.microsoft.com/office/drawing/2014/main" id="{B24A25D5-2A44-1649-1659-630B4029984E}"/>
              </a:ext>
            </a:extLst>
          </p:cNvPr>
          <p:cNvPicPr preferRelativeResize="0">
            <a:picLocks/>
          </p:cNvPicPr>
          <p:nvPr/>
        </p:nvPicPr>
        <p:blipFill>
          <a:blip r:embed="rId2"/>
          <a:stretch>
            <a:fillRect/>
          </a:stretch>
        </p:blipFill>
        <p:spPr>
          <a:xfrm>
            <a:off x="1774563" y="1796326"/>
            <a:ext cx="8642873" cy="4244400"/>
          </a:xfrm>
          <a:prstGeom prst="rect">
            <a:avLst/>
          </a:prstGeom>
        </p:spPr>
      </p:pic>
      <p:sp>
        <p:nvSpPr>
          <p:cNvPr id="4" name="Slide Number Placeholder 3">
            <a:extLst>
              <a:ext uri="{FF2B5EF4-FFF2-40B4-BE49-F238E27FC236}">
                <a16:creationId xmlns:a16="http://schemas.microsoft.com/office/drawing/2014/main" id="{54B33BCD-583A-76B8-5CC2-69F13302C32F}"/>
              </a:ext>
            </a:extLst>
          </p:cNvPr>
          <p:cNvSpPr>
            <a:spLocks noGrp="1"/>
          </p:cNvSpPr>
          <p:nvPr>
            <p:ph type="sldNum" sz="quarter" idx="12"/>
          </p:nvPr>
        </p:nvSpPr>
        <p:spPr/>
        <p:txBody>
          <a:bodyPr/>
          <a:lstStyle/>
          <a:p>
            <a:fld id="{6056A974-1F10-4C20-85B8-C700D90E4AC4}" type="slidenum">
              <a:rPr kumimoji="1" lang="ja-JP" altLang="en-US" smtClean="0"/>
              <a:t>10</a:t>
            </a:fld>
            <a:endParaRPr kumimoji="1" lang="ja-JP" altLang="en-US"/>
          </a:p>
        </p:txBody>
      </p:sp>
      <p:pic>
        <p:nvPicPr>
          <p:cNvPr id="6" name="Picture 5" descr="A qr code with a logo&#10;&#10;AI-generated content may be incorrect.">
            <a:extLst>
              <a:ext uri="{FF2B5EF4-FFF2-40B4-BE49-F238E27FC236}">
                <a16:creationId xmlns:a16="http://schemas.microsoft.com/office/drawing/2014/main" id="{6492C802-D0F8-CA79-F14E-674BC79A12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0782" y="216848"/>
            <a:ext cx="1266160" cy="1266160"/>
          </a:xfrm>
          <a:prstGeom prst="rect">
            <a:avLst/>
          </a:prstGeom>
        </p:spPr>
      </p:pic>
    </p:spTree>
    <p:extLst>
      <p:ext uri="{BB962C8B-B14F-4D97-AF65-F5344CB8AC3E}">
        <p14:creationId xmlns:p14="http://schemas.microsoft.com/office/powerpoint/2010/main" val="611215947"/>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215</TotalTime>
  <Words>334</Words>
  <Application>Microsoft Macintosh PowerPoint</Application>
  <PresentationFormat>Widescreen</PresentationFormat>
  <Paragraphs>52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东文宋体</vt:lpstr>
      <vt:lpstr>Calibri</vt:lpstr>
      <vt:lpstr>Calibri Light</vt:lpstr>
      <vt:lpstr>Wingdings 2</vt:lpstr>
      <vt:lpstr>HDOfficeLightV0</vt:lpstr>
      <vt:lpstr>低消費電力 3Dスタッキングメモリベースの ニューラルネットワークプロセッサ</vt:lpstr>
      <vt:lpstr>目的</vt:lpstr>
      <vt:lpstr>方法</vt:lpstr>
      <vt:lpstr>概要アーキテクチャ</vt:lpstr>
      <vt:lpstr>低電力技術の副作用</vt:lpstr>
      <vt:lpstr>導入の流れ</vt:lpstr>
      <vt:lpstr>低電圧（UV）時の動作</vt:lpstr>
      <vt:lpstr>パワーゲーティング（PG+UV)時の動作</vt:lpstr>
      <vt:lpstr>実験結果：精度、電圧、ビットエラー率</vt:lpstr>
      <vt:lpstr>実験結果：精度vs電力</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低消費電力 3Dスタッキングメモリベースの ニューラルネットワークプロセッサ </dc:title>
  <dc:creator>Yuga Hanyu</dc:creator>
  <cp:lastModifiedBy>Khanh Dang</cp:lastModifiedBy>
  <cp:revision>9</cp:revision>
  <dcterms:created xsi:type="dcterms:W3CDTF">2025-08-15T06:33:35Z</dcterms:created>
  <dcterms:modified xsi:type="dcterms:W3CDTF">2025-08-25T03:25:41Z</dcterms:modified>
</cp:coreProperties>
</file>